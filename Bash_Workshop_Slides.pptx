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57" r:id="rId4"/>
    <p:sldId id="294" r:id="rId5"/>
    <p:sldId id="295" r:id="rId6"/>
    <p:sldId id="296" r:id="rId7"/>
    <p:sldId id="297" r:id="rId8"/>
    <p:sldId id="298" r:id="rId9"/>
    <p:sldId id="299" r:id="rId10"/>
    <p:sldId id="301" r:id="rId11"/>
    <p:sldId id="302" r:id="rId12"/>
    <p:sldId id="300" r:id="rId13"/>
    <p:sldId id="303" r:id="rId14"/>
    <p:sldId id="263" r:id="rId15"/>
    <p:sldId id="305" r:id="rId16"/>
    <p:sldId id="307" r:id="rId17"/>
    <p:sldId id="306" r:id="rId18"/>
    <p:sldId id="259" r:id="rId19"/>
    <p:sldId id="308" r:id="rId20"/>
    <p:sldId id="266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15"/>
    <p:restoredTop sz="88372"/>
  </p:normalViewPr>
  <p:slideViewPr>
    <p:cSldViewPr snapToGrid="0">
      <p:cViewPr varScale="1">
        <p:scale>
          <a:sx n="119" d="100"/>
          <a:sy n="119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F63EC-0C1A-CD41-803E-FCC63610E1CA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8B31D-0359-FD45-B142-6B5C398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2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– why would we use the command line instead of an easy, pretty GUI? </a:t>
            </a:r>
          </a:p>
          <a:p>
            <a:pPr marL="228600" indent="-228600">
              <a:buAutoNum type="arabicPeriod"/>
            </a:pPr>
            <a:r>
              <a:rPr lang="en-US" dirty="0"/>
              <a:t>Faster</a:t>
            </a:r>
          </a:p>
          <a:p>
            <a:pPr marL="228600" indent="-228600">
              <a:buAutoNum type="arabicPeriod"/>
            </a:pPr>
            <a:r>
              <a:rPr lang="en-US" dirty="0"/>
              <a:t>More efficient</a:t>
            </a:r>
          </a:p>
          <a:p>
            <a:pPr marL="228600" indent="-228600">
              <a:buAutoNum type="arabicPeriod"/>
            </a:pPr>
            <a:r>
              <a:rPr lang="en-US" dirty="0"/>
              <a:t>Portable – remote connections sometimes only on command line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B31D-0359-FD45-B142-6B5C39892E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95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Group: think of like a shared </a:t>
            </a:r>
            <a:r>
              <a:rPr lang="en-US" dirty="0" err="1"/>
              <a:t>onedrive</a:t>
            </a:r>
            <a:r>
              <a:rPr lang="en-US" dirty="0"/>
              <a:t> folder for a group project where you have to specify which users have access</a:t>
            </a:r>
          </a:p>
          <a:p>
            <a:r>
              <a:rPr lang="en-US" dirty="0"/>
              <a:t>Other: all users not the owner or part of the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B31D-0359-FD45-B142-6B5C39892E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C658-B576-7DA9-79E7-4FB775FC2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FFA29-1389-EDF4-BE15-BD99645E5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BDF4B-ED4D-C49A-FDE5-9ECDCAB8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2024-3265-7345-BEE8-A433DD160124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5AFD0-862B-2E8F-9F7C-454C7910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90D1D-5ECC-15CC-8603-E9DEF51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6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AD78-F8CB-4E18-D9E4-2187201E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E178-DF10-5829-3FB2-BA600C448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B454F-BFEE-1445-4CF4-200B732B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1D3F-27E6-9544-9385-C534351C5CB8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2A6B3-4818-D667-F8FF-8BA13C70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CBF8-F42E-0B25-930C-D25A01C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67C6-421F-452B-E78F-35F49954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616CC-4A69-8CE5-6594-B5CE4031F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35B78-5C1E-C617-1F71-71F35F02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925F9-C4CF-8B42-8835-CE276475044A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1184-A4B2-EF9C-FAFC-CDCF7A16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CA13-F553-1B0B-8E68-EABB5640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55CB-7D76-38D2-47F2-13419E7C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EC95B-EA63-6822-D5E6-E83C254D1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F5193-951F-7A4E-803A-76A595D21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78B5A-7DFB-1EDB-4619-07029409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EB2CA-E28F-D44A-B092-044A1FAE416D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9ED4E-6F15-7211-38A8-CD5FEF5E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92DA8-BA22-6CDB-F919-0629BCAF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4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E96E-4958-46DD-0A7E-EDAE605F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0CA1B-5B50-448F-607F-C40F81137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051F8-E379-4F1F-79D9-E9CB9BA22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4A130-00F6-AD8C-C01E-495AE2AFC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A0261-D25C-F1D5-51EE-665E7C7B6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E28C3-94C9-EFEC-A5EC-55F11C5D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7723-367D-A346-8719-E1D6C471E3CF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7E520-21EF-359C-CB5C-B2FA174B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52F64-A7BC-B596-0EF3-F781B974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8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27F-D0F0-1826-9CD8-B958DE5C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8D940-07E8-3E2D-B7D5-5332DBF7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BF76-233E-B64B-8FEC-DEBBF862B03B}" type="datetime1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32B86-078A-B6D0-9C5D-445C677C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91221-BD17-CAE3-A9DA-A611B5B0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1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97D34-EAD9-36CC-6A04-A89299D2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FAAF-431C-1E49-A615-5A21464BF191}" type="datetime1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88356-0F34-4FFC-0219-8FE8ABC5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FEC5F-935F-4511-329C-A6F9C5A8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8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4363-ECBD-8767-FA9C-DEED21BD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68795-2141-3145-74B8-5AC7DAA68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A5548-A92F-2249-4D5A-F04781613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BBAE-3B8A-2C91-15A2-C369AFE9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BF57-AE6D-B344-BBF9-4CF841F54295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2624C-5CAE-A630-7E76-50D045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9B94E-F752-5D2B-AFA0-534FF4CA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6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C576-29B9-9416-8B21-31488294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B6A39-7052-FBD7-D57A-616978A86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88754-9E5A-5772-3807-85210E3AA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0AF1B-9A85-8514-092E-B3F385D4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98FD3-019E-8C4B-A975-2B8F44C28D1B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BADD2-2230-2F0C-2A7B-8E337A39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88249-A656-7744-B77B-B7FB0331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1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36A5-8BE9-56C7-0841-22822A5B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F5923-7C92-FDDE-192C-2A51A70E5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3CE6E-EA28-FBA0-21D0-6CED08CB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FC50-1AE8-5041-842A-88ED7B8D0ED1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E267-6244-DC96-753B-28A13ECB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5233-2CAA-0CF6-FA20-49F39446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0D5CA-519E-5A9D-C32B-4A166600E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FDE5A-AED9-9726-7741-49F986A57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8664-B86F-137F-4113-DB9E7410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0129-A7F9-8E40-8D0C-D0631DDD155E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11E30-48C7-CBEC-ED64-0B3AF920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3C85-2A15-C583-ECD4-F0E93BFC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7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A2B32-7ABF-5E36-71FA-537BC2B4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A519-8F50-4501-B8F9-F26F406D8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9ECC-847C-BECE-422A-F1FC955C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43BE7-54A7-8142-A044-F58B3A4E8F25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37B57-B8D5-16F8-11EF-72CF94F80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01460-0EA7-FCC8-B0F4-F486C7284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CAB0F-2CA8-3742-B97B-79AB76F5E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7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hyperlink" Target="https://git-scm.com/install/windows" TargetMode="External"/><Relationship Id="rId4" Type="http://schemas.openxmlformats.org/officeDocument/2006/relationships/hyperlink" Target="https://learn.microsoft.com/en-us/windows/wsl/insta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tinyurl.com/CompBioSocBash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vim-adventures.com/" TargetMode="External"/><Relationship Id="rId2" Type="http://schemas.openxmlformats.org/officeDocument/2006/relationships/hyperlink" Target="https://www.linuxfoundation.org/blog/blog/classic-sysadmin-vim-101-a-beginners-guide-to-vi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hints.io/bash" TargetMode="External"/><Relationship Id="rId2" Type="http://schemas.openxmlformats.org/officeDocument/2006/relationships/hyperlink" Target="https://adibro.github.io/Data-Science-Resources/Cheat-Sheets/CL-Git/Command-Line_Cheat-Sheet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hints.io/vim" TargetMode="External"/><Relationship Id="rId4" Type="http://schemas.openxmlformats.org/officeDocument/2006/relationships/hyperlink" Target="https://mywiki.wooledge.org/BashGui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EE3D-9F31-4F37-BE66-05E496AAB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dirty="0"/>
              <a:t>Workshop: </a:t>
            </a:r>
            <a:r>
              <a:rPr lang="en-US" b="1" dirty="0"/>
              <a:t>command line </a:t>
            </a:r>
            <a:r>
              <a:rPr lang="en-US" dirty="0"/>
              <a:t>and </a:t>
            </a:r>
            <a:r>
              <a:rPr lang="en-US" b="1" dirty="0"/>
              <a:t>bash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4297D-189F-F55E-EA04-DC08AC095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r>
              <a:rPr lang="en-US" dirty="0"/>
              <a:t>13.10.2025</a:t>
            </a:r>
          </a:p>
        </p:txBody>
      </p:sp>
      <p:pic>
        <p:nvPicPr>
          <p:cNvPr id="1028" name="Picture 4" descr="Result of running the pwd command">
            <a:extLst>
              <a:ext uri="{FF2B5EF4-FFF2-40B4-BE49-F238E27FC236}">
                <a16:creationId xmlns:a16="http://schemas.microsoft.com/office/drawing/2014/main" id="{675EBDB4-F7CF-8390-8A8E-329312510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585" y="4699120"/>
            <a:ext cx="4914369" cy="18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92CC57F1-5D9A-1B44-18EE-4BD9223A5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26" y="4791483"/>
            <a:ext cx="5612063" cy="162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29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5870-15AB-2C55-4DC5-CB8FB2C6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EBDC-0C1A-7C40-C93A-B102CBEAF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8335" y="1847164"/>
            <a:ext cx="4153930" cy="4351338"/>
          </a:xfrm>
        </p:spPr>
        <p:txBody>
          <a:bodyPr/>
          <a:lstStyle/>
          <a:p>
            <a:r>
              <a:rPr lang="en-US" dirty="0"/>
              <a:t>Mac: regular command line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9E856-8064-7E11-D1E6-99AB9CF84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1942" y="1847164"/>
            <a:ext cx="5181600" cy="3268533"/>
          </a:xfrm>
        </p:spPr>
        <p:txBody>
          <a:bodyPr/>
          <a:lstStyle/>
          <a:p>
            <a:r>
              <a:rPr lang="en-US" dirty="0"/>
              <a:t>Windows: git bash or WSL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72417-F0B0-8DF2-32FE-DC23A501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33"/>
          <a:stretch/>
        </p:blipFill>
        <p:spPr>
          <a:xfrm>
            <a:off x="685800" y="3126066"/>
            <a:ext cx="3619000" cy="1989631"/>
          </a:xfrm>
          <a:prstGeom prst="rect">
            <a:avLst/>
          </a:prstGeom>
        </p:spPr>
      </p:pic>
      <p:pic>
        <p:nvPicPr>
          <p:cNvPr id="2050" name="Picture 2" descr="How to add Git Bash to Windows Terminal | Walter Teng">
            <a:extLst>
              <a:ext uri="{FF2B5EF4-FFF2-40B4-BE49-F238E27FC236}">
                <a16:creationId xmlns:a16="http://schemas.microsoft.com/office/drawing/2014/main" id="{2B29BF7C-0F83-BC59-5E9F-F6A389C47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7" t="15377" r="10565" b="17716"/>
          <a:stretch/>
        </p:blipFill>
        <p:spPr bwMode="auto">
          <a:xfrm>
            <a:off x="5221942" y="2569544"/>
            <a:ext cx="3238682" cy="206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307DFD-5A8F-D58A-6F65-930637004F10}"/>
              </a:ext>
            </a:extLst>
          </p:cNvPr>
          <p:cNvSpPr txBox="1"/>
          <p:nvPr/>
        </p:nvSpPr>
        <p:spPr>
          <a:xfrm>
            <a:off x="5642656" y="6063962"/>
            <a:ext cx="609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https://learn.microsoft.com/en-us/windows/wsl/install</a:t>
            </a:r>
            <a:endParaRPr lang="en-US" sz="1600" dirty="0"/>
          </a:p>
          <a:p>
            <a:r>
              <a:rPr lang="en-US" sz="1600" dirty="0">
                <a:hlinkClick r:id="rId5"/>
              </a:rPr>
              <a:t>https://git-scm.com/install/windows</a:t>
            </a:r>
            <a:r>
              <a:rPr lang="en-US" sz="1600" dirty="0"/>
              <a:t>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3C26EC-CB46-B538-0897-023C5B80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2</a:t>
            </a:fld>
            <a:endParaRPr lang="en-US"/>
          </a:p>
        </p:txBody>
      </p:sp>
      <p:pic>
        <p:nvPicPr>
          <p:cNvPr id="2052" name="Picture 4" descr="How to install Ubuntu using WSL on Windows 11 - Pureinfotech">
            <a:extLst>
              <a:ext uri="{FF2B5EF4-FFF2-40B4-BE49-F238E27FC236}">
                <a16:creationId xmlns:a16="http://schemas.microsoft.com/office/drawing/2014/main" id="{FB38B8C4-FE3E-B532-9D28-4F4E7B635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091" y="2569544"/>
            <a:ext cx="3300792" cy="206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37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2877-C8DB-82C5-0648-CCF64270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command line?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19165-2360-9CF1-5FA1-6708E6742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 interface between the user and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4F5B0-3DEF-57B7-7697-4BFE9448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3</a:t>
            </a:fld>
            <a:endParaRPr lang="en-US"/>
          </a:p>
        </p:txBody>
      </p:sp>
      <p:pic>
        <p:nvPicPr>
          <p:cNvPr id="6" name="object 8">
            <a:extLst>
              <a:ext uri="{FF2B5EF4-FFF2-40B4-BE49-F238E27FC236}">
                <a16:creationId xmlns:a16="http://schemas.microsoft.com/office/drawing/2014/main" id="{594E1AA3-0FBA-3F1A-E04D-176D7F66B8B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2985489"/>
            <a:ext cx="4510640" cy="2791783"/>
          </a:xfrm>
          <a:prstGeom prst="rect">
            <a:avLst/>
          </a:prstGeom>
        </p:spPr>
      </p:pic>
      <p:pic>
        <p:nvPicPr>
          <p:cNvPr id="3074" name="Picture 2" descr="8 Linux file managers to try | Opensource.com">
            <a:extLst>
              <a:ext uri="{FF2B5EF4-FFF2-40B4-BE49-F238E27FC236}">
                <a16:creationId xmlns:a16="http://schemas.microsoft.com/office/drawing/2014/main" id="{ECE4C01D-FEA0-A154-D053-2E17D2D49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280" y="2800823"/>
            <a:ext cx="4510640" cy="359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59DD6F-5D2C-1067-10BE-7206D6919258}"/>
              </a:ext>
            </a:extLst>
          </p:cNvPr>
          <p:cNvSpPr txBox="1"/>
          <p:nvPr/>
        </p:nvSpPr>
        <p:spPr>
          <a:xfrm>
            <a:off x="2277656" y="261615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8A094-E874-876C-E107-F840E85F9A6A}"/>
              </a:ext>
            </a:extLst>
          </p:cNvPr>
          <p:cNvSpPr txBox="1"/>
          <p:nvPr/>
        </p:nvSpPr>
        <p:spPr>
          <a:xfrm>
            <a:off x="7026352" y="2471334"/>
            <a:ext cx="3168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Graphical User Interface (GUI)</a:t>
            </a:r>
          </a:p>
        </p:txBody>
      </p:sp>
    </p:spTree>
    <p:extLst>
      <p:ext uri="{BB962C8B-B14F-4D97-AF65-F5344CB8AC3E}">
        <p14:creationId xmlns:p14="http://schemas.microsoft.com/office/powerpoint/2010/main" val="296826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2FA9-7EA3-9945-BC2D-5B79956E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90" y="140362"/>
            <a:ext cx="10515600" cy="1325563"/>
          </a:xfrm>
        </p:spPr>
        <p:txBody>
          <a:bodyPr/>
          <a:lstStyle/>
          <a:p>
            <a:r>
              <a:rPr lang="en-US" dirty="0"/>
              <a:t>Directory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6A9FF-729C-C19F-D42C-9271A819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4</a:t>
            </a:fld>
            <a:endParaRPr lang="en-US"/>
          </a:p>
        </p:txBody>
      </p:sp>
      <p:sp>
        <p:nvSpPr>
          <p:cNvPr id="5" name="object 40">
            <a:extLst>
              <a:ext uri="{FF2B5EF4-FFF2-40B4-BE49-F238E27FC236}">
                <a16:creationId xmlns:a16="http://schemas.microsoft.com/office/drawing/2014/main" id="{C115DBF3-1F8C-3CC3-62D7-ABFB763BBCA0}"/>
              </a:ext>
            </a:extLst>
          </p:cNvPr>
          <p:cNvSpPr/>
          <p:nvPr/>
        </p:nvSpPr>
        <p:spPr>
          <a:xfrm>
            <a:off x="4236858" y="2101556"/>
            <a:ext cx="1318241" cy="1153941"/>
          </a:xfrm>
          <a:custGeom>
            <a:avLst/>
            <a:gdLst/>
            <a:ahLst/>
            <a:cxnLst/>
            <a:rect l="l" t="t" r="r" b="b"/>
            <a:pathLst>
              <a:path w="1090295" h="954405">
                <a:moveTo>
                  <a:pt x="357847" y="0"/>
                </a:moveTo>
                <a:lnTo>
                  <a:pt x="357847" y="151917"/>
                </a:lnTo>
                <a:lnTo>
                  <a:pt x="357847" y="265684"/>
                </a:lnTo>
                <a:lnTo>
                  <a:pt x="357847" y="379806"/>
                </a:lnTo>
                <a:lnTo>
                  <a:pt x="357847" y="534593"/>
                </a:lnTo>
                <a:lnTo>
                  <a:pt x="0" y="953998"/>
                </a:lnTo>
                <a:lnTo>
                  <a:pt x="357847" y="762482"/>
                </a:lnTo>
                <a:lnTo>
                  <a:pt x="357847" y="914755"/>
                </a:lnTo>
                <a:lnTo>
                  <a:pt x="479171" y="914755"/>
                </a:lnTo>
                <a:lnTo>
                  <a:pt x="1089723" y="914755"/>
                </a:lnTo>
                <a:lnTo>
                  <a:pt x="1089723" y="762482"/>
                </a:lnTo>
                <a:lnTo>
                  <a:pt x="1089723" y="0"/>
                </a:lnTo>
                <a:lnTo>
                  <a:pt x="968044" y="0"/>
                </a:lnTo>
                <a:lnTo>
                  <a:pt x="357847" y="0"/>
                </a:lnTo>
                <a:close/>
              </a:path>
            </a:pathLst>
          </a:custGeom>
          <a:ln w="29159">
            <a:solidFill>
              <a:srgbClr val="43BA99"/>
            </a:solidFill>
          </a:ln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6" name="object 41">
            <a:extLst>
              <a:ext uri="{FF2B5EF4-FFF2-40B4-BE49-F238E27FC236}">
                <a16:creationId xmlns:a16="http://schemas.microsoft.com/office/drawing/2014/main" id="{B7109516-60EC-88DE-844E-B54489452D46}"/>
              </a:ext>
            </a:extLst>
          </p:cNvPr>
          <p:cNvSpPr txBox="1"/>
          <p:nvPr/>
        </p:nvSpPr>
        <p:spPr>
          <a:xfrm>
            <a:off x="4770819" y="2079675"/>
            <a:ext cx="682537" cy="108368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 indent="75242" algn="just">
              <a:lnSpc>
                <a:spcPct val="108300"/>
              </a:lnSpc>
              <a:spcBef>
                <a:spcPts val="121"/>
              </a:spcBef>
            </a:pPr>
            <a:r>
              <a:rPr sz="2176" b="1" spc="-30" dirty="0">
                <a:solidFill>
                  <a:srgbClr val="218733"/>
                </a:solidFill>
                <a:latin typeface="Calibri"/>
                <a:cs typeface="Calibri"/>
              </a:rPr>
              <a:t>YOU </a:t>
            </a:r>
            <a:r>
              <a:rPr sz="2176" b="1" spc="54" dirty="0">
                <a:solidFill>
                  <a:srgbClr val="218733"/>
                </a:solidFill>
                <a:latin typeface="Calibri"/>
                <a:cs typeface="Calibri"/>
              </a:rPr>
              <a:t>ARE </a:t>
            </a:r>
            <a:r>
              <a:rPr sz="2176" b="1" spc="73" dirty="0">
                <a:solidFill>
                  <a:srgbClr val="218733"/>
                </a:solidFill>
                <a:latin typeface="Calibri"/>
                <a:cs typeface="Calibri"/>
              </a:rPr>
              <a:t>HERE</a:t>
            </a:r>
            <a:endParaRPr sz="2176" dirty="0">
              <a:latin typeface="Calibri"/>
              <a:cs typeface="Calibri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7EF6481B-0104-2983-2B0D-81328CD4FB00}"/>
              </a:ext>
            </a:extLst>
          </p:cNvPr>
          <p:cNvGrpSpPr/>
          <p:nvPr/>
        </p:nvGrpSpPr>
        <p:grpSpPr>
          <a:xfrm>
            <a:off x="1647041" y="1495673"/>
            <a:ext cx="2502123" cy="4617298"/>
            <a:chOff x="1362240" y="1236252"/>
            <a:chExt cx="2069464" cy="38188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943D4F2-435D-EE3A-FC76-0947BAEE06CB}"/>
                </a:ext>
              </a:extLst>
            </p:cNvPr>
            <p:cNvSpPr/>
            <p:nvPr/>
          </p:nvSpPr>
          <p:spPr>
            <a:xfrm>
              <a:off x="1362240" y="2612525"/>
              <a:ext cx="2069464" cy="209550"/>
            </a:xfrm>
            <a:custGeom>
              <a:avLst/>
              <a:gdLst/>
              <a:ahLst/>
              <a:cxnLst/>
              <a:rect l="l" t="t" r="r" b="b"/>
              <a:pathLst>
                <a:path w="2069464" h="209550">
                  <a:moveTo>
                    <a:pt x="2069274" y="0"/>
                  </a:moveTo>
                  <a:lnTo>
                    <a:pt x="0" y="0"/>
                  </a:lnTo>
                  <a:lnTo>
                    <a:pt x="0" y="209169"/>
                  </a:lnTo>
                  <a:lnTo>
                    <a:pt x="1034643" y="209169"/>
                  </a:lnTo>
                  <a:lnTo>
                    <a:pt x="2069274" y="209169"/>
                  </a:lnTo>
                  <a:lnTo>
                    <a:pt x="2069274" y="0"/>
                  </a:lnTo>
                  <a:close/>
                </a:path>
              </a:pathLst>
            </a:custGeom>
            <a:solidFill>
              <a:srgbClr val="43BA99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C0F7E1CA-151C-5CE4-50C3-70A24B3017A3}"/>
                </a:ext>
              </a:extLst>
            </p:cNvPr>
            <p:cNvSpPr/>
            <p:nvPr/>
          </p:nvSpPr>
          <p:spPr>
            <a:xfrm>
              <a:off x="1466634" y="1236252"/>
              <a:ext cx="686435" cy="3818890"/>
            </a:xfrm>
            <a:custGeom>
              <a:avLst/>
              <a:gdLst/>
              <a:ahLst/>
              <a:cxnLst/>
              <a:rect l="l" t="t" r="r" b="b"/>
              <a:pathLst>
                <a:path w="686435" h="3818890">
                  <a:moveTo>
                    <a:pt x="0" y="0"/>
                  </a:moveTo>
                  <a:lnTo>
                    <a:pt x="0" y="188277"/>
                  </a:lnTo>
                  <a:lnTo>
                    <a:pt x="161645" y="188277"/>
                  </a:lnTo>
                </a:path>
                <a:path w="686435" h="3818890">
                  <a:moveTo>
                    <a:pt x="0" y="0"/>
                  </a:moveTo>
                  <a:lnTo>
                    <a:pt x="0" y="519480"/>
                  </a:lnTo>
                  <a:lnTo>
                    <a:pt x="161645" y="519480"/>
                  </a:lnTo>
                </a:path>
                <a:path w="686435" h="3818890">
                  <a:moveTo>
                    <a:pt x="262445" y="653033"/>
                  </a:moveTo>
                  <a:lnTo>
                    <a:pt x="262445" y="841311"/>
                  </a:lnTo>
                  <a:lnTo>
                    <a:pt x="424091" y="841311"/>
                  </a:lnTo>
                </a:path>
                <a:path w="686435" h="3818890">
                  <a:moveTo>
                    <a:pt x="262445" y="653033"/>
                  </a:moveTo>
                  <a:lnTo>
                    <a:pt x="262445" y="1172159"/>
                  </a:lnTo>
                  <a:lnTo>
                    <a:pt x="424091" y="1172159"/>
                  </a:lnTo>
                </a:path>
                <a:path w="686435" h="3818890">
                  <a:moveTo>
                    <a:pt x="262445" y="653033"/>
                  </a:moveTo>
                  <a:lnTo>
                    <a:pt x="262445" y="1486801"/>
                  </a:lnTo>
                  <a:lnTo>
                    <a:pt x="424091" y="1486801"/>
                  </a:lnTo>
                </a:path>
                <a:path w="686435" h="3818890">
                  <a:moveTo>
                    <a:pt x="524522" y="1604162"/>
                  </a:moveTo>
                  <a:lnTo>
                    <a:pt x="524522" y="1792439"/>
                  </a:lnTo>
                  <a:lnTo>
                    <a:pt x="686168" y="1792439"/>
                  </a:lnTo>
                </a:path>
                <a:path w="686435" h="3818890">
                  <a:moveTo>
                    <a:pt x="524522" y="1604162"/>
                  </a:moveTo>
                  <a:lnTo>
                    <a:pt x="524522" y="2118232"/>
                  </a:lnTo>
                  <a:lnTo>
                    <a:pt x="686168" y="2118232"/>
                  </a:lnTo>
                </a:path>
                <a:path w="686435" h="3818890">
                  <a:moveTo>
                    <a:pt x="524522" y="1604162"/>
                  </a:moveTo>
                  <a:lnTo>
                    <a:pt x="524522" y="3447351"/>
                  </a:lnTo>
                  <a:lnTo>
                    <a:pt x="686168" y="3447351"/>
                  </a:lnTo>
                </a:path>
                <a:path w="686435" h="3818890">
                  <a:moveTo>
                    <a:pt x="0" y="0"/>
                  </a:moveTo>
                  <a:lnTo>
                    <a:pt x="0" y="3818521"/>
                  </a:lnTo>
                  <a:lnTo>
                    <a:pt x="161645" y="3818521"/>
                  </a:lnTo>
                </a:path>
              </a:pathLst>
            </a:custGeom>
            <a:ln w="89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pic>
        <p:nvPicPr>
          <p:cNvPr id="11" name="object 7">
            <a:extLst>
              <a:ext uri="{FF2B5EF4-FFF2-40B4-BE49-F238E27FC236}">
                <a16:creationId xmlns:a16="http://schemas.microsoft.com/office/drawing/2014/main" id="{3A6F5E98-FB6D-9F07-6F55-147C090709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779" y="1231901"/>
            <a:ext cx="89228" cy="168016"/>
          </a:xfrm>
          <a:prstGeom prst="rect">
            <a:avLst/>
          </a:prstGeom>
        </p:spPr>
      </p:pic>
      <p:sp>
        <p:nvSpPr>
          <p:cNvPr id="42" name="object 38">
            <a:extLst>
              <a:ext uri="{FF2B5EF4-FFF2-40B4-BE49-F238E27FC236}">
                <a16:creationId xmlns:a16="http://schemas.microsoft.com/office/drawing/2014/main" id="{69E9F40B-AAE3-E2E9-E3ED-58EEA4161476}"/>
              </a:ext>
            </a:extLst>
          </p:cNvPr>
          <p:cNvSpPr/>
          <p:nvPr/>
        </p:nvSpPr>
        <p:spPr>
          <a:xfrm>
            <a:off x="2724313" y="4211725"/>
            <a:ext cx="195778" cy="1028028"/>
          </a:xfrm>
          <a:custGeom>
            <a:avLst/>
            <a:gdLst/>
            <a:ahLst/>
            <a:cxnLst/>
            <a:rect l="l" t="t" r="r" b="b"/>
            <a:pathLst>
              <a:path w="161925" h="850264">
                <a:moveTo>
                  <a:pt x="0" y="0"/>
                </a:moveTo>
                <a:lnTo>
                  <a:pt x="0" y="188277"/>
                </a:lnTo>
                <a:lnTo>
                  <a:pt x="161645" y="188277"/>
                </a:lnTo>
              </a:path>
              <a:path w="161925" h="850264">
                <a:moveTo>
                  <a:pt x="0" y="0"/>
                </a:moveTo>
                <a:lnTo>
                  <a:pt x="0" y="519112"/>
                </a:lnTo>
                <a:lnTo>
                  <a:pt x="161645" y="519112"/>
                </a:lnTo>
              </a:path>
              <a:path w="161925" h="850264">
                <a:moveTo>
                  <a:pt x="0" y="0"/>
                </a:moveTo>
                <a:lnTo>
                  <a:pt x="0" y="849960"/>
                </a:lnTo>
                <a:lnTo>
                  <a:pt x="161645" y="849960"/>
                </a:lnTo>
              </a:path>
            </a:pathLst>
          </a:custGeom>
          <a:ln w="89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98A648-45E0-5206-244C-71C596D3D529}"/>
              </a:ext>
            </a:extLst>
          </p:cNvPr>
          <p:cNvSpPr txBox="1"/>
          <p:nvPr/>
        </p:nvSpPr>
        <p:spPr>
          <a:xfrm>
            <a:off x="2004966" y="153603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2C823B-96DB-1C68-119F-D96837E53D93}"/>
              </a:ext>
            </a:extLst>
          </p:cNvPr>
          <p:cNvSpPr txBox="1"/>
          <p:nvPr/>
        </p:nvSpPr>
        <p:spPr>
          <a:xfrm>
            <a:off x="2004965" y="189500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434F4C-3147-D19F-28C6-60CF6BE453C3}"/>
              </a:ext>
            </a:extLst>
          </p:cNvPr>
          <p:cNvSpPr txBox="1"/>
          <p:nvPr/>
        </p:nvSpPr>
        <p:spPr>
          <a:xfrm>
            <a:off x="2299861" y="232246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83F086-65B9-121F-0DB0-A7C33E4ABBB3}"/>
              </a:ext>
            </a:extLst>
          </p:cNvPr>
          <p:cNvSpPr txBox="1"/>
          <p:nvPr/>
        </p:nvSpPr>
        <p:spPr>
          <a:xfrm>
            <a:off x="2321850" y="27040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8151E5-2277-2587-098B-DF8AE3B5B82A}"/>
              </a:ext>
            </a:extLst>
          </p:cNvPr>
          <p:cNvSpPr txBox="1"/>
          <p:nvPr/>
        </p:nvSpPr>
        <p:spPr>
          <a:xfrm>
            <a:off x="2299860" y="309404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B4C9B3-05D4-8140-D609-69FF12988E9E}"/>
              </a:ext>
            </a:extLst>
          </p:cNvPr>
          <p:cNvSpPr txBox="1"/>
          <p:nvPr/>
        </p:nvSpPr>
        <p:spPr>
          <a:xfrm>
            <a:off x="2603207" y="34933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Downloads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CF1E6F-5DCE-AEB5-4508-B76F0A394D99}"/>
              </a:ext>
            </a:extLst>
          </p:cNvPr>
          <p:cNvSpPr txBox="1"/>
          <p:nvPr/>
        </p:nvSpPr>
        <p:spPr>
          <a:xfrm>
            <a:off x="2622384" y="3848428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Documents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8923FB-B032-606A-0827-5F0AE03A795C}"/>
              </a:ext>
            </a:extLst>
          </p:cNvPr>
          <p:cNvSpPr txBox="1"/>
          <p:nvPr/>
        </p:nvSpPr>
        <p:spPr>
          <a:xfrm>
            <a:off x="2939268" y="428381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Projects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3F4BD1-E794-ADA6-BA8F-F7C92016A951}"/>
              </a:ext>
            </a:extLst>
          </p:cNvPr>
          <p:cNvSpPr txBox="1"/>
          <p:nvPr/>
        </p:nvSpPr>
        <p:spPr>
          <a:xfrm>
            <a:off x="2942778" y="464162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Lyrics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0BB38A-8219-5D89-9CBB-A9A7CFE338C2}"/>
              </a:ext>
            </a:extLst>
          </p:cNvPr>
          <p:cNvSpPr txBox="1"/>
          <p:nvPr/>
        </p:nvSpPr>
        <p:spPr>
          <a:xfrm>
            <a:off x="2920091" y="501095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CompBioSoc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5BB7A8-9792-6143-F2BF-CEF379BE57DB}"/>
              </a:ext>
            </a:extLst>
          </p:cNvPr>
          <p:cNvSpPr txBox="1"/>
          <p:nvPr/>
        </p:nvSpPr>
        <p:spPr>
          <a:xfrm>
            <a:off x="2647126" y="543350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Music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C2BDF7-6843-D858-BC94-8E93FB95B227}"/>
              </a:ext>
            </a:extLst>
          </p:cNvPr>
          <p:cNvSpPr txBox="1"/>
          <p:nvPr/>
        </p:nvSpPr>
        <p:spPr>
          <a:xfrm>
            <a:off x="2000739" y="59181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C3C265-590C-37B5-7926-2B64214B1DD3}"/>
              </a:ext>
            </a:extLst>
          </p:cNvPr>
          <p:cNvSpPr txBox="1"/>
          <p:nvPr/>
        </p:nvSpPr>
        <p:spPr>
          <a:xfrm>
            <a:off x="7196863" y="4866044"/>
            <a:ext cx="4541647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1800" spc="-12" dirty="0">
                <a:latin typeface="Courier New"/>
                <a:cs typeface="Courier New"/>
              </a:rPr>
              <a:t>/home/c/Documents/</a:t>
            </a:r>
            <a:r>
              <a:rPr lang="en-US" sz="1800" spc="-12" dirty="0" err="1">
                <a:latin typeface="Courier New"/>
                <a:cs typeface="Courier New"/>
              </a:rPr>
              <a:t>CompBioSoc</a:t>
            </a:r>
            <a:r>
              <a:rPr lang="en-US" sz="1800" spc="-12" dirty="0">
                <a:latin typeface="Courier New"/>
                <a:cs typeface="Courier New"/>
              </a:rPr>
              <a:t>/</a:t>
            </a:r>
          </a:p>
          <a:p>
            <a:pPr marL="15356">
              <a:spcBef>
                <a:spcPts val="121"/>
              </a:spcBef>
            </a:pPr>
            <a:r>
              <a:rPr lang="en-US" spc="-12" dirty="0">
                <a:latin typeface="Courier New"/>
                <a:cs typeface="Courier New"/>
              </a:rPr>
              <a:t>~/c/Documents/</a:t>
            </a:r>
            <a:r>
              <a:rPr lang="en-US" spc="-12" dirty="0" err="1">
                <a:latin typeface="Courier New"/>
                <a:cs typeface="Courier New"/>
              </a:rPr>
              <a:t>CompBioSoc</a:t>
            </a:r>
            <a:r>
              <a:rPr lang="en-US" spc="-12" dirty="0">
                <a:latin typeface="Courier New"/>
                <a:cs typeface="Courier New"/>
              </a:rPr>
              <a:t>/</a:t>
            </a:r>
            <a:endParaRPr lang="en-US" sz="1800" dirty="0">
              <a:latin typeface="Courier New"/>
              <a:cs typeface="Courier New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A94CD5A-8975-D429-CFE9-4A2AF57469FF}"/>
              </a:ext>
            </a:extLst>
          </p:cNvPr>
          <p:cNvCxnSpPr>
            <a:cxnSpLocks/>
          </p:cNvCxnSpPr>
          <p:nvPr/>
        </p:nvCxnSpPr>
        <p:spPr>
          <a:xfrm>
            <a:off x="4679117" y="5195622"/>
            <a:ext cx="2351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6E6AE88-EBE3-A039-486C-60B83A126899}"/>
              </a:ext>
            </a:extLst>
          </p:cNvPr>
          <p:cNvSpPr txBox="1"/>
          <p:nvPr/>
        </p:nvSpPr>
        <p:spPr>
          <a:xfrm>
            <a:off x="7242194" y="4540463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Absolute path: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23C703-C4C5-3B24-B2D2-3D17090B7608}"/>
              </a:ext>
            </a:extLst>
          </p:cNvPr>
          <p:cNvSpPr txBox="1"/>
          <p:nvPr/>
        </p:nvSpPr>
        <p:spPr>
          <a:xfrm>
            <a:off x="7259772" y="5453384"/>
            <a:ext cx="159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Relative path: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563460-778F-737F-A438-93097E3331A1}"/>
              </a:ext>
            </a:extLst>
          </p:cNvPr>
          <p:cNvSpPr txBox="1"/>
          <p:nvPr/>
        </p:nvSpPr>
        <p:spPr>
          <a:xfrm>
            <a:off x="7242194" y="5808623"/>
            <a:ext cx="4541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1800" spc="-12" dirty="0">
                <a:latin typeface="Courier New"/>
                <a:cs typeface="Courier New"/>
              </a:rPr>
              <a:t>Documents/</a:t>
            </a:r>
            <a:r>
              <a:rPr lang="en-US" sz="1800" spc="-12" dirty="0" err="1">
                <a:latin typeface="Courier New"/>
                <a:cs typeface="Courier New"/>
              </a:rPr>
              <a:t>CompBioSoc</a:t>
            </a:r>
            <a:r>
              <a:rPr lang="en-US" sz="1800" spc="-12" dirty="0">
                <a:latin typeface="Courier New"/>
                <a:cs typeface="Courier New"/>
              </a:rPr>
              <a:t>/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63" name="object 43">
            <a:extLst>
              <a:ext uri="{FF2B5EF4-FFF2-40B4-BE49-F238E27FC236}">
                <a16:creationId xmlns:a16="http://schemas.microsoft.com/office/drawing/2014/main" id="{F81500CB-E924-1BD6-0327-63A36D2CE496}"/>
              </a:ext>
            </a:extLst>
          </p:cNvPr>
          <p:cNvSpPr/>
          <p:nvPr/>
        </p:nvSpPr>
        <p:spPr>
          <a:xfrm>
            <a:off x="6461758" y="3034382"/>
            <a:ext cx="552786" cy="442229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457200" y="0"/>
                </a:moveTo>
                <a:lnTo>
                  <a:pt x="0" y="0"/>
                </a:lnTo>
                <a:lnTo>
                  <a:pt x="0" y="365760"/>
                </a:lnTo>
                <a:lnTo>
                  <a:pt x="228600" y="365760"/>
                </a:lnTo>
                <a:lnTo>
                  <a:pt x="457200" y="365760"/>
                </a:lnTo>
                <a:lnTo>
                  <a:pt x="45720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pPr algn="ctr"/>
            <a:r>
              <a:rPr lang="en-US" sz="2400" b="1" dirty="0"/>
              <a:t>.</a:t>
            </a:r>
            <a:endParaRPr sz="2400" b="1" dirty="0"/>
          </a:p>
        </p:txBody>
      </p:sp>
      <p:sp>
        <p:nvSpPr>
          <p:cNvPr id="64" name="object 43">
            <a:extLst>
              <a:ext uri="{FF2B5EF4-FFF2-40B4-BE49-F238E27FC236}">
                <a16:creationId xmlns:a16="http://schemas.microsoft.com/office/drawing/2014/main" id="{13654273-37C3-FE6B-E50D-246EAF9AA583}"/>
              </a:ext>
            </a:extLst>
          </p:cNvPr>
          <p:cNvSpPr/>
          <p:nvPr/>
        </p:nvSpPr>
        <p:spPr>
          <a:xfrm>
            <a:off x="347870" y="2131018"/>
            <a:ext cx="552786" cy="442229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457200" y="0"/>
                </a:moveTo>
                <a:lnTo>
                  <a:pt x="0" y="0"/>
                </a:lnTo>
                <a:lnTo>
                  <a:pt x="0" y="365760"/>
                </a:lnTo>
                <a:lnTo>
                  <a:pt x="228600" y="365760"/>
                </a:lnTo>
                <a:lnTo>
                  <a:pt x="457200" y="365760"/>
                </a:lnTo>
                <a:lnTo>
                  <a:pt x="45720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pPr algn="ctr"/>
            <a:r>
              <a:rPr lang="en-US" sz="2400" b="1" dirty="0"/>
              <a:t>. .</a:t>
            </a:r>
            <a:endParaRPr sz="2400" b="1" dirty="0"/>
          </a:p>
        </p:txBody>
      </p:sp>
      <p:sp>
        <p:nvSpPr>
          <p:cNvPr id="65" name="object 43">
            <a:extLst>
              <a:ext uri="{FF2B5EF4-FFF2-40B4-BE49-F238E27FC236}">
                <a16:creationId xmlns:a16="http://schemas.microsoft.com/office/drawing/2014/main" id="{87AA8E41-7DD8-E4D7-4DF8-74F6D8647658}"/>
              </a:ext>
            </a:extLst>
          </p:cNvPr>
          <p:cNvSpPr/>
          <p:nvPr/>
        </p:nvSpPr>
        <p:spPr>
          <a:xfrm>
            <a:off x="2955597" y="1811449"/>
            <a:ext cx="552786" cy="442229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457200" y="0"/>
                </a:moveTo>
                <a:lnTo>
                  <a:pt x="0" y="0"/>
                </a:lnTo>
                <a:lnTo>
                  <a:pt x="0" y="365760"/>
                </a:lnTo>
                <a:lnTo>
                  <a:pt x="228600" y="365760"/>
                </a:lnTo>
                <a:lnTo>
                  <a:pt x="457200" y="365760"/>
                </a:lnTo>
                <a:lnTo>
                  <a:pt x="45720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pPr algn="ctr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endParaRPr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2FC9CD-211F-BF47-1CDA-8E9E745C8B43}"/>
              </a:ext>
            </a:extLst>
          </p:cNvPr>
          <p:cNvSpPr txBox="1"/>
          <p:nvPr/>
        </p:nvSpPr>
        <p:spPr>
          <a:xfrm>
            <a:off x="6330942" y="2691801"/>
            <a:ext cx="192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Working directory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501D59-1F4B-560A-86FB-4C9394B063E4}"/>
              </a:ext>
            </a:extLst>
          </p:cNvPr>
          <p:cNvSpPr txBox="1"/>
          <p:nvPr/>
        </p:nvSpPr>
        <p:spPr>
          <a:xfrm>
            <a:off x="2886895" y="1492650"/>
            <a:ext cx="22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home directory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C0D8D5-1E51-3716-968F-A503A2206F5E}"/>
              </a:ext>
            </a:extLst>
          </p:cNvPr>
          <p:cNvCxnSpPr>
            <a:cxnSpLocks/>
          </p:cNvCxnSpPr>
          <p:nvPr/>
        </p:nvCxnSpPr>
        <p:spPr>
          <a:xfrm flipV="1">
            <a:off x="1050324" y="1876720"/>
            <a:ext cx="0" cy="744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F86F80C-A660-C8C2-673E-2E526D933492}"/>
              </a:ext>
            </a:extLst>
          </p:cNvPr>
          <p:cNvSpPr txBox="1"/>
          <p:nvPr/>
        </p:nvSpPr>
        <p:spPr>
          <a:xfrm>
            <a:off x="9228" y="2621516"/>
            <a:ext cx="1764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directory</a:t>
            </a:r>
          </a:p>
        </p:txBody>
      </p:sp>
    </p:spTree>
    <p:extLst>
      <p:ext uri="{BB962C8B-B14F-4D97-AF65-F5344CB8AC3E}">
        <p14:creationId xmlns:p14="http://schemas.microsoft.com/office/powerpoint/2010/main" val="140411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C502-D2F7-16F0-B2AD-7F4E10312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785"/>
            <a:ext cx="10515600" cy="1325563"/>
          </a:xfrm>
        </p:spPr>
        <p:txBody>
          <a:bodyPr/>
          <a:lstStyle/>
          <a:p>
            <a:r>
              <a:rPr lang="en-US" dirty="0"/>
              <a:t>Syntax of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7B042-8625-A6C3-0703-DAC17FF3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DF84AE2-FA3A-BFC4-4A31-0FF79F9F258F}"/>
              </a:ext>
            </a:extLst>
          </p:cNvPr>
          <p:cNvSpPr/>
          <p:nvPr/>
        </p:nvSpPr>
        <p:spPr>
          <a:xfrm>
            <a:off x="2653373" y="2172949"/>
            <a:ext cx="1118622" cy="469100"/>
          </a:xfrm>
          <a:custGeom>
            <a:avLst/>
            <a:gdLst/>
            <a:ahLst/>
            <a:cxnLst/>
            <a:rect l="l" t="t" r="r" b="b"/>
            <a:pathLst>
              <a:path w="925194" h="387985">
                <a:moveTo>
                  <a:pt x="925194" y="0"/>
                </a:moveTo>
                <a:lnTo>
                  <a:pt x="0" y="0"/>
                </a:lnTo>
                <a:lnTo>
                  <a:pt x="0" y="387718"/>
                </a:lnTo>
                <a:lnTo>
                  <a:pt x="462597" y="387718"/>
                </a:lnTo>
                <a:lnTo>
                  <a:pt x="925194" y="387718"/>
                </a:lnTo>
                <a:lnTo>
                  <a:pt x="925194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en-US" sz="2176" dirty="0"/>
              <a:t>Name</a:t>
            </a:r>
            <a:endParaRPr sz="2176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43F9819-C3B9-9E19-E6B2-1378B95AA454}"/>
              </a:ext>
            </a:extLst>
          </p:cNvPr>
          <p:cNvSpPr/>
          <p:nvPr/>
        </p:nvSpPr>
        <p:spPr>
          <a:xfrm>
            <a:off x="4592914" y="2172949"/>
            <a:ext cx="1511716" cy="469100"/>
          </a:xfrm>
          <a:custGeom>
            <a:avLst/>
            <a:gdLst/>
            <a:ahLst/>
            <a:cxnLst/>
            <a:rect l="l" t="t" r="r" b="b"/>
            <a:pathLst>
              <a:path w="1250314" h="387985">
                <a:moveTo>
                  <a:pt x="1249921" y="0"/>
                </a:moveTo>
                <a:lnTo>
                  <a:pt x="0" y="0"/>
                </a:lnTo>
                <a:lnTo>
                  <a:pt x="0" y="387718"/>
                </a:lnTo>
                <a:lnTo>
                  <a:pt x="624954" y="387718"/>
                </a:lnTo>
                <a:lnTo>
                  <a:pt x="1249921" y="387718"/>
                </a:lnTo>
                <a:lnTo>
                  <a:pt x="1249921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en-US" sz="2176" dirty="0"/>
              <a:t>Options</a:t>
            </a:r>
            <a:endParaRPr sz="2176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2E7263A-D75B-88CA-88D8-DCF37D50C866}"/>
              </a:ext>
            </a:extLst>
          </p:cNvPr>
          <p:cNvSpPr/>
          <p:nvPr/>
        </p:nvSpPr>
        <p:spPr>
          <a:xfrm>
            <a:off x="7222776" y="2172949"/>
            <a:ext cx="1180043" cy="469100"/>
          </a:xfrm>
          <a:custGeom>
            <a:avLst/>
            <a:gdLst/>
            <a:ahLst/>
            <a:cxnLst/>
            <a:rect l="l" t="t" r="r" b="b"/>
            <a:pathLst>
              <a:path w="975995" h="387985">
                <a:moveTo>
                  <a:pt x="975601" y="0"/>
                </a:moveTo>
                <a:lnTo>
                  <a:pt x="0" y="0"/>
                </a:lnTo>
                <a:lnTo>
                  <a:pt x="0" y="387718"/>
                </a:lnTo>
                <a:lnTo>
                  <a:pt x="487807" y="387718"/>
                </a:lnTo>
                <a:lnTo>
                  <a:pt x="975601" y="387718"/>
                </a:lnTo>
                <a:lnTo>
                  <a:pt x="975601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en-US" sz="2176" dirty="0"/>
              <a:t>Input</a:t>
            </a:r>
            <a:endParaRPr sz="2176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E2B8A1DB-1C37-8CED-5E9E-2C081206FCF0}"/>
              </a:ext>
            </a:extLst>
          </p:cNvPr>
          <p:cNvSpPr txBox="1"/>
          <p:nvPr/>
        </p:nvSpPr>
        <p:spPr>
          <a:xfrm>
            <a:off x="4202800" y="3693633"/>
            <a:ext cx="1467954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3144" dirty="0">
                <a:latin typeface="Courier New"/>
                <a:cs typeface="Courier New"/>
              </a:rPr>
              <a:t>ls</a:t>
            </a:r>
            <a:r>
              <a:rPr sz="3144" spc="-36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-la</a:t>
            </a:r>
            <a:endParaRPr sz="3144">
              <a:latin typeface="Courier New"/>
              <a:cs typeface="Courier New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581721FA-8A8C-E3FA-F03A-0C062D7935EE}"/>
              </a:ext>
            </a:extLst>
          </p:cNvPr>
          <p:cNvGrpSpPr/>
          <p:nvPr/>
        </p:nvGrpSpPr>
        <p:grpSpPr>
          <a:xfrm>
            <a:off x="2334753" y="1934422"/>
            <a:ext cx="1990029" cy="188101"/>
            <a:chOff x="1931035" y="1415169"/>
            <a:chExt cx="1645920" cy="155575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0EBC07A5-5FB5-D24D-509C-0F1AE8539ED8}"/>
                </a:ext>
              </a:extLst>
            </p:cNvPr>
            <p:cNvSpPr/>
            <p:nvPr/>
          </p:nvSpPr>
          <p:spPr>
            <a:xfrm>
              <a:off x="1941118" y="1492931"/>
              <a:ext cx="1626235" cy="0"/>
            </a:xfrm>
            <a:custGeom>
              <a:avLst/>
              <a:gdLst/>
              <a:ahLst/>
              <a:cxnLst/>
              <a:rect l="l" t="t" r="r" b="b"/>
              <a:pathLst>
                <a:path w="1626235">
                  <a:moveTo>
                    <a:pt x="0" y="0"/>
                  </a:moveTo>
                  <a:lnTo>
                    <a:pt x="162576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A62A274-C34A-526A-72CF-48CF62289D32}"/>
                </a:ext>
              </a:extLst>
            </p:cNvPr>
            <p:cNvSpPr/>
            <p:nvPr/>
          </p:nvSpPr>
          <p:spPr>
            <a:xfrm>
              <a:off x="1931035" y="1415169"/>
              <a:ext cx="1645920" cy="155575"/>
            </a:xfrm>
            <a:custGeom>
              <a:avLst/>
              <a:gdLst/>
              <a:ahLst/>
              <a:cxnLst/>
              <a:rect l="l" t="t" r="r" b="b"/>
              <a:pathLst>
                <a:path w="164592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1645920" h="155575">
                  <a:moveTo>
                    <a:pt x="1645920" y="0"/>
                  </a:moveTo>
                  <a:lnTo>
                    <a:pt x="1625409" y="0"/>
                  </a:lnTo>
                  <a:lnTo>
                    <a:pt x="1625409" y="155524"/>
                  </a:lnTo>
                  <a:lnTo>
                    <a:pt x="1645920" y="155524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A1BCA729-5A3A-8BD1-3244-32E7E996B37E}"/>
              </a:ext>
            </a:extLst>
          </p:cNvPr>
          <p:cNvGrpSpPr/>
          <p:nvPr/>
        </p:nvGrpSpPr>
        <p:grpSpPr>
          <a:xfrm>
            <a:off x="6425368" y="1934422"/>
            <a:ext cx="2653372" cy="188101"/>
            <a:chOff x="5314315" y="1415169"/>
            <a:chExt cx="2194560" cy="155575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D455163-6A18-378A-5608-21D0DBB34E5F}"/>
                </a:ext>
              </a:extLst>
            </p:cNvPr>
            <p:cNvSpPr/>
            <p:nvPr/>
          </p:nvSpPr>
          <p:spPr>
            <a:xfrm>
              <a:off x="5324398" y="1492931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>
                  <a:moveTo>
                    <a:pt x="0" y="0"/>
                  </a:moveTo>
                  <a:lnTo>
                    <a:pt x="217440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3DDDA28-CBDE-E69C-787E-5419C6A39249}"/>
                </a:ext>
              </a:extLst>
            </p:cNvPr>
            <p:cNvSpPr/>
            <p:nvPr/>
          </p:nvSpPr>
          <p:spPr>
            <a:xfrm>
              <a:off x="5314315" y="1415169"/>
              <a:ext cx="2194560" cy="155575"/>
            </a:xfrm>
            <a:custGeom>
              <a:avLst/>
              <a:gdLst/>
              <a:ahLst/>
              <a:cxnLst/>
              <a:rect l="l" t="t" r="r" b="b"/>
              <a:pathLst>
                <a:path w="2194559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2194559" h="155575">
                  <a:moveTo>
                    <a:pt x="2194560" y="0"/>
                  </a:moveTo>
                  <a:lnTo>
                    <a:pt x="2174049" y="0"/>
                  </a:lnTo>
                  <a:lnTo>
                    <a:pt x="2174049" y="155524"/>
                  </a:lnTo>
                  <a:lnTo>
                    <a:pt x="2194560" y="155524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5" name="object 14">
            <a:extLst>
              <a:ext uri="{FF2B5EF4-FFF2-40B4-BE49-F238E27FC236}">
                <a16:creationId xmlns:a16="http://schemas.microsoft.com/office/drawing/2014/main" id="{2B60EAD7-5361-B844-56C4-FA5F15B52184}"/>
              </a:ext>
            </a:extLst>
          </p:cNvPr>
          <p:cNvGrpSpPr/>
          <p:nvPr/>
        </p:nvGrpSpPr>
        <p:grpSpPr>
          <a:xfrm>
            <a:off x="3201584" y="2631058"/>
            <a:ext cx="1570833" cy="1184651"/>
            <a:chOff x="2647977" y="1991345"/>
            <a:chExt cx="1299210" cy="979805"/>
          </a:xfrm>
        </p:grpSpPr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1383D287-297C-C4A4-C205-78D31A4DFECC}"/>
                </a:ext>
              </a:extLst>
            </p:cNvPr>
            <p:cNvSpPr/>
            <p:nvPr/>
          </p:nvSpPr>
          <p:spPr>
            <a:xfrm>
              <a:off x="3408476" y="2892967"/>
              <a:ext cx="528955" cy="0"/>
            </a:xfrm>
            <a:custGeom>
              <a:avLst/>
              <a:gdLst/>
              <a:ahLst/>
              <a:cxnLst/>
              <a:rect l="l" t="t" r="r" b="b"/>
              <a:pathLst>
                <a:path w="528954">
                  <a:moveTo>
                    <a:pt x="0" y="0"/>
                  </a:moveTo>
                  <a:lnTo>
                    <a:pt x="52848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C52160FF-30AF-FA95-5DFB-BB029847657E}"/>
                </a:ext>
              </a:extLst>
            </p:cNvPr>
            <p:cNvSpPr/>
            <p:nvPr/>
          </p:nvSpPr>
          <p:spPr>
            <a:xfrm>
              <a:off x="3398405" y="2815205"/>
              <a:ext cx="548640" cy="155575"/>
            </a:xfrm>
            <a:custGeom>
              <a:avLst/>
              <a:gdLst/>
              <a:ahLst/>
              <a:cxnLst/>
              <a:rect l="l" t="t" r="r" b="b"/>
              <a:pathLst>
                <a:path w="548639" h="155575">
                  <a:moveTo>
                    <a:pt x="20510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10" y="155524"/>
                  </a:lnTo>
                  <a:lnTo>
                    <a:pt x="20510" y="0"/>
                  </a:lnTo>
                  <a:close/>
                </a:path>
                <a:path w="548639" h="155575">
                  <a:moveTo>
                    <a:pt x="548640" y="0"/>
                  </a:moveTo>
                  <a:lnTo>
                    <a:pt x="528116" y="0"/>
                  </a:lnTo>
                  <a:lnTo>
                    <a:pt x="528116" y="155524"/>
                  </a:lnTo>
                  <a:lnTo>
                    <a:pt x="548640" y="15552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8B45C87B-7601-F663-2837-823AB3A7C5E9}"/>
                </a:ext>
              </a:extLst>
            </p:cNvPr>
            <p:cNvSpPr/>
            <p:nvPr/>
          </p:nvSpPr>
          <p:spPr>
            <a:xfrm>
              <a:off x="2657157" y="2000525"/>
              <a:ext cx="1016000" cy="819150"/>
            </a:xfrm>
            <a:custGeom>
              <a:avLst/>
              <a:gdLst/>
              <a:ahLst/>
              <a:cxnLst/>
              <a:rect l="l" t="t" r="r" b="b"/>
              <a:pathLst>
                <a:path w="1016000" h="819150">
                  <a:moveTo>
                    <a:pt x="0" y="0"/>
                  </a:moveTo>
                  <a:lnTo>
                    <a:pt x="0" y="407162"/>
                  </a:lnTo>
                  <a:lnTo>
                    <a:pt x="1015568" y="407162"/>
                  </a:lnTo>
                  <a:lnTo>
                    <a:pt x="1015568" y="818997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20A60872-6D1F-7717-CBD1-65F268C71124}"/>
                </a:ext>
              </a:extLst>
            </p:cNvPr>
            <p:cNvSpPr/>
            <p:nvPr/>
          </p:nvSpPr>
          <p:spPr>
            <a:xfrm>
              <a:off x="3622675" y="281269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20" name="object 19">
            <a:extLst>
              <a:ext uri="{FF2B5EF4-FFF2-40B4-BE49-F238E27FC236}">
                <a16:creationId xmlns:a16="http://schemas.microsoft.com/office/drawing/2014/main" id="{76C373E0-DAEA-A003-CB3B-39BC58BEF315}"/>
              </a:ext>
            </a:extLst>
          </p:cNvPr>
          <p:cNvGrpSpPr/>
          <p:nvPr/>
        </p:nvGrpSpPr>
        <p:grpSpPr>
          <a:xfrm>
            <a:off x="4545895" y="1934421"/>
            <a:ext cx="1547801" cy="1881008"/>
            <a:chOff x="3759834" y="1415169"/>
            <a:chExt cx="1280160" cy="1555750"/>
          </a:xfrm>
        </p:grpSpPr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91C79DB3-3737-D7D6-5AE5-1F64829D57A2}"/>
                </a:ext>
              </a:extLst>
            </p:cNvPr>
            <p:cNvSpPr/>
            <p:nvPr/>
          </p:nvSpPr>
          <p:spPr>
            <a:xfrm>
              <a:off x="3769918" y="1492931"/>
              <a:ext cx="1260475" cy="0"/>
            </a:xfrm>
            <a:custGeom>
              <a:avLst/>
              <a:gdLst/>
              <a:ahLst/>
              <a:cxnLst/>
              <a:rect l="l" t="t" r="r" b="b"/>
              <a:pathLst>
                <a:path w="1260475">
                  <a:moveTo>
                    <a:pt x="0" y="0"/>
                  </a:moveTo>
                  <a:lnTo>
                    <a:pt x="126000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579FD808-4823-8507-FBA6-148B1EF4436E}"/>
                </a:ext>
              </a:extLst>
            </p:cNvPr>
            <p:cNvSpPr/>
            <p:nvPr/>
          </p:nvSpPr>
          <p:spPr>
            <a:xfrm>
              <a:off x="3759835" y="1415169"/>
              <a:ext cx="1280160" cy="155575"/>
            </a:xfrm>
            <a:custGeom>
              <a:avLst/>
              <a:gdLst/>
              <a:ahLst/>
              <a:cxnLst/>
              <a:rect l="l" t="t" r="r" b="b"/>
              <a:pathLst>
                <a:path w="128016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1280160" h="155575">
                  <a:moveTo>
                    <a:pt x="1280160" y="0"/>
                  </a:moveTo>
                  <a:lnTo>
                    <a:pt x="1259649" y="0"/>
                  </a:lnTo>
                  <a:lnTo>
                    <a:pt x="1259649" y="155524"/>
                  </a:lnTo>
                  <a:lnTo>
                    <a:pt x="1280160" y="155524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AE5C45A3-4C5D-D167-B43F-200BE1794D84}"/>
                </a:ext>
              </a:extLst>
            </p:cNvPr>
            <p:cNvSpPr/>
            <p:nvPr/>
          </p:nvSpPr>
          <p:spPr>
            <a:xfrm>
              <a:off x="4084561" y="2892967"/>
              <a:ext cx="673735" cy="0"/>
            </a:xfrm>
            <a:custGeom>
              <a:avLst/>
              <a:gdLst/>
              <a:ahLst/>
              <a:cxnLst/>
              <a:rect l="l" t="t" r="r" b="b"/>
              <a:pathLst>
                <a:path w="673735">
                  <a:moveTo>
                    <a:pt x="0" y="0"/>
                  </a:moveTo>
                  <a:lnTo>
                    <a:pt x="673201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70DA6FFE-9F13-B3BB-1846-E8F6FB3F5C3D}"/>
                </a:ext>
              </a:extLst>
            </p:cNvPr>
            <p:cNvSpPr/>
            <p:nvPr/>
          </p:nvSpPr>
          <p:spPr>
            <a:xfrm>
              <a:off x="4074477" y="2815205"/>
              <a:ext cx="693420" cy="155575"/>
            </a:xfrm>
            <a:custGeom>
              <a:avLst/>
              <a:gdLst/>
              <a:ahLst/>
              <a:cxnLst/>
              <a:rect l="l" t="t" r="r" b="b"/>
              <a:pathLst>
                <a:path w="69342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693420" h="155575">
                  <a:moveTo>
                    <a:pt x="693356" y="0"/>
                  </a:moveTo>
                  <a:lnTo>
                    <a:pt x="672846" y="0"/>
                  </a:lnTo>
                  <a:lnTo>
                    <a:pt x="672846" y="155524"/>
                  </a:lnTo>
                  <a:lnTo>
                    <a:pt x="693356" y="155524"/>
                  </a:lnTo>
                  <a:lnTo>
                    <a:pt x="693356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6C3ABADC-BA8D-720C-B8CA-E7C6B28B2EE0}"/>
                </a:ext>
              </a:extLst>
            </p:cNvPr>
            <p:cNvSpPr/>
            <p:nvPr/>
          </p:nvSpPr>
          <p:spPr>
            <a:xfrm>
              <a:off x="4421161" y="2000525"/>
              <a:ext cx="2540" cy="819150"/>
            </a:xfrm>
            <a:custGeom>
              <a:avLst/>
              <a:gdLst/>
              <a:ahLst/>
              <a:cxnLst/>
              <a:rect l="l" t="t" r="r" b="b"/>
              <a:pathLst>
                <a:path w="2539" h="819150">
                  <a:moveTo>
                    <a:pt x="2514" y="0"/>
                  </a:moveTo>
                  <a:lnTo>
                    <a:pt x="2514" y="407162"/>
                  </a:lnTo>
                  <a:lnTo>
                    <a:pt x="0" y="407162"/>
                  </a:lnTo>
                  <a:lnTo>
                    <a:pt x="0" y="818997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F5A57F31-CD90-53D7-E7EE-C64360602F27}"/>
                </a:ext>
              </a:extLst>
            </p:cNvPr>
            <p:cNvSpPr/>
            <p:nvPr/>
          </p:nvSpPr>
          <p:spPr>
            <a:xfrm>
              <a:off x="4371123" y="281269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27" name="object 26">
            <a:extLst>
              <a:ext uri="{FF2B5EF4-FFF2-40B4-BE49-F238E27FC236}">
                <a16:creationId xmlns:a16="http://schemas.microsoft.com/office/drawing/2014/main" id="{533BCC39-DD81-766B-0CD4-1D3193DC14D9}"/>
              </a:ext>
            </a:extLst>
          </p:cNvPr>
          <p:cNvGrpSpPr/>
          <p:nvPr/>
        </p:nvGrpSpPr>
        <p:grpSpPr>
          <a:xfrm>
            <a:off x="5923945" y="2631058"/>
            <a:ext cx="1900202" cy="1184651"/>
            <a:chOff x="4899596" y="1991345"/>
            <a:chExt cx="1571625" cy="979805"/>
          </a:xfrm>
        </p:grpSpPr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F4184F0E-6EB2-3787-68E6-842FD933AC7E}"/>
                </a:ext>
              </a:extLst>
            </p:cNvPr>
            <p:cNvSpPr/>
            <p:nvPr/>
          </p:nvSpPr>
          <p:spPr>
            <a:xfrm>
              <a:off x="4909680" y="2892967"/>
              <a:ext cx="673735" cy="0"/>
            </a:xfrm>
            <a:custGeom>
              <a:avLst/>
              <a:gdLst/>
              <a:ahLst/>
              <a:cxnLst/>
              <a:rect l="l" t="t" r="r" b="b"/>
              <a:pathLst>
                <a:path w="673735">
                  <a:moveTo>
                    <a:pt x="0" y="0"/>
                  </a:moveTo>
                  <a:lnTo>
                    <a:pt x="673201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0BA81F48-F854-2798-4EF0-FAB375920377}"/>
                </a:ext>
              </a:extLst>
            </p:cNvPr>
            <p:cNvSpPr/>
            <p:nvPr/>
          </p:nvSpPr>
          <p:spPr>
            <a:xfrm>
              <a:off x="4899596" y="2815205"/>
              <a:ext cx="693420" cy="155575"/>
            </a:xfrm>
            <a:custGeom>
              <a:avLst/>
              <a:gdLst/>
              <a:ahLst/>
              <a:cxnLst/>
              <a:rect l="l" t="t" r="r" b="b"/>
              <a:pathLst>
                <a:path w="69342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693420" h="155575">
                  <a:moveTo>
                    <a:pt x="693369" y="0"/>
                  </a:moveTo>
                  <a:lnTo>
                    <a:pt x="672846" y="0"/>
                  </a:lnTo>
                  <a:lnTo>
                    <a:pt x="672846" y="155524"/>
                  </a:lnTo>
                  <a:lnTo>
                    <a:pt x="693369" y="155524"/>
                  </a:lnTo>
                  <a:lnTo>
                    <a:pt x="69336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891896FB-EED5-8D5D-E6C7-DC0CD5D85456}"/>
                </a:ext>
              </a:extLst>
            </p:cNvPr>
            <p:cNvSpPr/>
            <p:nvPr/>
          </p:nvSpPr>
          <p:spPr>
            <a:xfrm>
              <a:off x="5246281" y="2000525"/>
              <a:ext cx="1215390" cy="819150"/>
            </a:xfrm>
            <a:custGeom>
              <a:avLst/>
              <a:gdLst/>
              <a:ahLst/>
              <a:cxnLst/>
              <a:rect l="l" t="t" r="r" b="b"/>
              <a:pathLst>
                <a:path w="1215389" h="819150">
                  <a:moveTo>
                    <a:pt x="1215364" y="0"/>
                  </a:moveTo>
                  <a:lnTo>
                    <a:pt x="1215364" y="407162"/>
                  </a:lnTo>
                  <a:lnTo>
                    <a:pt x="0" y="407162"/>
                  </a:lnTo>
                  <a:lnTo>
                    <a:pt x="0" y="818997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3DB474A9-274A-D9C6-27B8-350E4B074348}"/>
                </a:ext>
              </a:extLst>
            </p:cNvPr>
            <p:cNvSpPr/>
            <p:nvPr/>
          </p:nvSpPr>
          <p:spPr>
            <a:xfrm>
              <a:off x="5196243" y="281269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32" name="object 31">
            <a:extLst>
              <a:ext uri="{FF2B5EF4-FFF2-40B4-BE49-F238E27FC236}">
                <a16:creationId xmlns:a16="http://schemas.microsoft.com/office/drawing/2014/main" id="{F6749060-B875-22F0-F7E7-9A113453F54C}"/>
              </a:ext>
            </a:extLst>
          </p:cNvPr>
          <p:cNvSpPr txBox="1"/>
          <p:nvPr/>
        </p:nvSpPr>
        <p:spPr>
          <a:xfrm>
            <a:off x="2483768" y="3750075"/>
            <a:ext cx="120376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2176" spc="-12" dirty="0">
                <a:latin typeface="Calibri"/>
                <a:cs typeface="Calibri"/>
              </a:rPr>
              <a:t>Example</a:t>
            </a:r>
            <a:r>
              <a:rPr sz="2176" spc="-12" dirty="0">
                <a:latin typeface="Calibri"/>
                <a:cs typeface="Calibri"/>
              </a:rPr>
              <a:t>: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CF8EE287-91A1-A0CF-1E19-C4B5A5745AF8}"/>
              </a:ext>
            </a:extLst>
          </p:cNvPr>
          <p:cNvSpPr/>
          <p:nvPr/>
        </p:nvSpPr>
        <p:spPr>
          <a:xfrm>
            <a:off x="2555866" y="4273535"/>
            <a:ext cx="7407331" cy="1907111"/>
          </a:xfrm>
          <a:custGeom>
            <a:avLst/>
            <a:gdLst/>
            <a:ahLst/>
            <a:cxnLst/>
            <a:rect l="l" t="t" r="r" b="b"/>
            <a:pathLst>
              <a:path w="6126480" h="1577339">
                <a:moveTo>
                  <a:pt x="6126480" y="0"/>
                </a:moveTo>
                <a:lnTo>
                  <a:pt x="0" y="0"/>
                </a:lnTo>
                <a:lnTo>
                  <a:pt x="0" y="1577162"/>
                </a:lnTo>
                <a:lnTo>
                  <a:pt x="3063240" y="1577162"/>
                </a:lnTo>
                <a:lnTo>
                  <a:pt x="6126480" y="1577162"/>
                </a:lnTo>
                <a:lnTo>
                  <a:pt x="6126480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446CA70E-7D16-E01F-F95D-47F766A751F4}"/>
              </a:ext>
            </a:extLst>
          </p:cNvPr>
          <p:cNvSpPr txBox="1"/>
          <p:nvPr/>
        </p:nvSpPr>
        <p:spPr>
          <a:xfrm>
            <a:off x="2648904" y="4395286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127" dirty="0">
                <a:latin typeface="Arial"/>
                <a:cs typeface="Arial"/>
              </a:rPr>
              <a:t>●</a:t>
            </a:r>
            <a:endParaRPr sz="967">
              <a:latin typeface="Arial"/>
              <a:cs typeface="Arial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449591EE-FDCD-2D84-C87C-18B08FA14FF2}"/>
              </a:ext>
            </a:extLst>
          </p:cNvPr>
          <p:cNvSpPr txBox="1"/>
          <p:nvPr/>
        </p:nvSpPr>
        <p:spPr>
          <a:xfrm>
            <a:off x="2648904" y="4754812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127" dirty="0">
                <a:latin typeface="Arial"/>
                <a:cs typeface="Arial"/>
              </a:rPr>
              <a:t>●</a:t>
            </a:r>
            <a:endParaRPr sz="967">
              <a:latin typeface="Arial"/>
              <a:cs typeface="Arial"/>
            </a:endParaRPr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4D1C9757-AB06-B487-4893-A0FC85FD224C}"/>
              </a:ext>
            </a:extLst>
          </p:cNvPr>
          <p:cNvSpPr txBox="1"/>
          <p:nvPr/>
        </p:nvSpPr>
        <p:spPr>
          <a:xfrm>
            <a:off x="2909618" y="4292131"/>
            <a:ext cx="4708660" cy="751556"/>
          </a:xfrm>
          <a:prstGeom prst="rect">
            <a:avLst/>
          </a:prstGeom>
        </p:spPr>
        <p:txBody>
          <a:bodyPr vert="horz" wrap="square" lIns="0" tIns="42994" rIns="0" bIns="0" rtlCol="0">
            <a:spAutoFit/>
          </a:bodyPr>
          <a:lstStyle/>
          <a:p>
            <a:pPr marL="15356">
              <a:spcBef>
                <a:spcPts val="339"/>
              </a:spcBef>
            </a:pPr>
            <a:r>
              <a:rPr sz="2176" dirty="0">
                <a:latin typeface="Courier New"/>
                <a:cs typeface="Courier New"/>
              </a:rPr>
              <a:t>ls</a:t>
            </a:r>
            <a:r>
              <a:rPr sz="2176" spc="-834" dirty="0">
                <a:latin typeface="Courier New"/>
                <a:cs typeface="Courier New"/>
              </a:rPr>
              <a:t> </a:t>
            </a:r>
            <a:r>
              <a:rPr sz="2176" b="1" dirty="0">
                <a:latin typeface="Calibri"/>
                <a:cs typeface="Calibri"/>
              </a:rPr>
              <a:t>list</a:t>
            </a:r>
            <a:r>
              <a:rPr lang="en-US" sz="2176" dirty="0">
                <a:latin typeface="Calibri"/>
                <a:cs typeface="Calibri"/>
              </a:rPr>
              <a:t>s files in the working directory</a:t>
            </a:r>
            <a:r>
              <a:rPr lang="en-US" sz="2176" spc="-36" dirty="0">
                <a:latin typeface="Calibri"/>
                <a:cs typeface="Calibri"/>
              </a:rPr>
              <a:t> </a:t>
            </a:r>
          </a:p>
          <a:p>
            <a:pPr marL="15356">
              <a:spcBef>
                <a:spcPts val="339"/>
              </a:spcBef>
            </a:pPr>
            <a:r>
              <a:rPr lang="en-US" sz="2176" dirty="0">
                <a:latin typeface="Courier New"/>
                <a:cs typeface="Courier New"/>
              </a:rPr>
              <a:t>-la</a:t>
            </a:r>
            <a:r>
              <a:rPr lang="en-US" sz="2176" spc="-834" dirty="0">
                <a:latin typeface="Courier New"/>
                <a:cs typeface="Courier New"/>
              </a:rPr>
              <a:t> </a:t>
            </a:r>
            <a:r>
              <a:rPr lang="en-US" sz="2176" spc="85" dirty="0">
                <a:latin typeface="Calibri"/>
                <a:cs typeface="Calibri"/>
              </a:rPr>
              <a:t>=</a:t>
            </a:r>
            <a:r>
              <a:rPr lang="en-US" sz="2176" spc="-73" dirty="0">
                <a:latin typeface="Calibri"/>
                <a:cs typeface="Calibri"/>
              </a:rPr>
              <a:t> </a:t>
            </a:r>
            <a:r>
              <a:rPr lang="en-US" sz="2176" spc="-12" dirty="0">
                <a:latin typeface="Calibri"/>
                <a:cs typeface="Calibri"/>
              </a:rPr>
              <a:t>Combination</a:t>
            </a:r>
            <a:r>
              <a:rPr lang="en-US" sz="2176" spc="-48" dirty="0">
                <a:latin typeface="Calibri"/>
                <a:cs typeface="Calibri"/>
              </a:rPr>
              <a:t> </a:t>
            </a:r>
            <a:r>
              <a:rPr lang="en-US" sz="2176" dirty="0">
                <a:latin typeface="Calibri"/>
                <a:cs typeface="Calibri"/>
              </a:rPr>
              <a:t>of</a:t>
            </a:r>
            <a:r>
              <a:rPr lang="en-US" sz="2176" spc="-36" dirty="0">
                <a:latin typeface="Calibri"/>
                <a:cs typeface="Calibri"/>
              </a:rPr>
              <a:t> </a:t>
            </a:r>
            <a:r>
              <a:rPr lang="en-US" sz="2176" dirty="0">
                <a:latin typeface="Courier New"/>
                <a:cs typeface="Courier New"/>
              </a:rPr>
              <a:t>–l </a:t>
            </a:r>
            <a:r>
              <a:rPr lang="en-US" sz="2176" dirty="0">
                <a:latin typeface="Calibri"/>
                <a:cs typeface="Calibri"/>
              </a:rPr>
              <a:t>and</a:t>
            </a:r>
            <a:r>
              <a:rPr lang="en-US" sz="2176" spc="-48" dirty="0">
                <a:latin typeface="Calibri"/>
                <a:cs typeface="Calibri"/>
              </a:rPr>
              <a:t> </a:t>
            </a:r>
            <a:r>
              <a:rPr lang="en-US" sz="2176" dirty="0">
                <a:latin typeface="Courier New"/>
                <a:cs typeface="Courier New"/>
              </a:rPr>
              <a:t>-a</a:t>
            </a:r>
          </a:p>
        </p:txBody>
      </p:sp>
      <p:sp>
        <p:nvSpPr>
          <p:cNvPr id="39" name="object 36">
            <a:extLst>
              <a:ext uri="{FF2B5EF4-FFF2-40B4-BE49-F238E27FC236}">
                <a16:creationId xmlns:a16="http://schemas.microsoft.com/office/drawing/2014/main" id="{BA8244CE-0F77-92D9-FBBF-83986F44FA6E}"/>
              </a:ext>
            </a:extLst>
          </p:cNvPr>
          <p:cNvSpPr txBox="1"/>
          <p:nvPr/>
        </p:nvSpPr>
        <p:spPr>
          <a:xfrm>
            <a:off x="2909619" y="5115643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127" dirty="0">
                <a:latin typeface="Arial"/>
                <a:cs typeface="Arial"/>
              </a:rPr>
              <a:t>●</a:t>
            </a:r>
            <a:endParaRPr sz="967">
              <a:latin typeface="Arial"/>
              <a:cs typeface="Arial"/>
            </a:endParaRPr>
          </a:p>
        </p:txBody>
      </p:sp>
      <p:sp>
        <p:nvSpPr>
          <p:cNvPr id="40" name="object 37">
            <a:extLst>
              <a:ext uri="{FF2B5EF4-FFF2-40B4-BE49-F238E27FC236}">
                <a16:creationId xmlns:a16="http://schemas.microsoft.com/office/drawing/2014/main" id="{33DC12A7-583C-4D19-7232-28435BA4C9CE}"/>
              </a:ext>
            </a:extLst>
          </p:cNvPr>
          <p:cNvSpPr txBox="1"/>
          <p:nvPr/>
        </p:nvSpPr>
        <p:spPr>
          <a:xfrm>
            <a:off x="3172515" y="5038607"/>
            <a:ext cx="3236101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-l</a:t>
            </a:r>
            <a:r>
              <a:rPr sz="2176" spc="-852" dirty="0">
                <a:latin typeface="Courier New"/>
                <a:cs typeface="Courier New"/>
              </a:rPr>
              <a:t> </a:t>
            </a:r>
            <a:r>
              <a:rPr sz="2176" spc="85" dirty="0">
                <a:latin typeface="Calibri"/>
                <a:cs typeface="Calibri"/>
              </a:rPr>
              <a:t>=</a:t>
            </a:r>
            <a:r>
              <a:rPr sz="2176" spc="-73" dirty="0">
                <a:latin typeface="Calibri"/>
                <a:cs typeface="Calibri"/>
              </a:rPr>
              <a:t> </a:t>
            </a:r>
            <a:r>
              <a:rPr sz="2176" spc="-30" dirty="0">
                <a:latin typeface="Calibri"/>
                <a:cs typeface="Calibri"/>
              </a:rPr>
              <a:t>Option</a:t>
            </a:r>
            <a:r>
              <a:rPr sz="2176" spc="-48" dirty="0">
                <a:latin typeface="Calibri"/>
                <a:cs typeface="Calibri"/>
              </a:rPr>
              <a:t> </a:t>
            </a:r>
            <a:r>
              <a:rPr lang="en-US" sz="2176" spc="-24" dirty="0">
                <a:latin typeface="Calibri"/>
                <a:cs typeface="Calibri"/>
              </a:rPr>
              <a:t>for</a:t>
            </a:r>
            <a:r>
              <a:rPr sz="2176" spc="-54" dirty="0">
                <a:latin typeface="Calibri"/>
                <a:cs typeface="Calibri"/>
              </a:rPr>
              <a:t> </a:t>
            </a:r>
            <a:r>
              <a:rPr lang="en-US" sz="2176" spc="-12" dirty="0">
                <a:latin typeface="Calibri"/>
                <a:cs typeface="Calibri"/>
              </a:rPr>
              <a:t>list format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41" name="object 38">
            <a:extLst>
              <a:ext uri="{FF2B5EF4-FFF2-40B4-BE49-F238E27FC236}">
                <a16:creationId xmlns:a16="http://schemas.microsoft.com/office/drawing/2014/main" id="{D9FDE0AD-ADFC-D806-0146-A88D0719C480}"/>
              </a:ext>
            </a:extLst>
          </p:cNvPr>
          <p:cNvSpPr txBox="1"/>
          <p:nvPr/>
        </p:nvSpPr>
        <p:spPr>
          <a:xfrm>
            <a:off x="2909619" y="5474739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127" dirty="0">
                <a:latin typeface="Arial"/>
                <a:cs typeface="Arial"/>
              </a:rPr>
              <a:t>●</a:t>
            </a:r>
            <a:endParaRPr sz="967">
              <a:latin typeface="Arial"/>
              <a:cs typeface="Arial"/>
            </a:endParaRPr>
          </a:p>
        </p:txBody>
      </p:sp>
      <p:sp>
        <p:nvSpPr>
          <p:cNvPr id="42" name="object 39">
            <a:extLst>
              <a:ext uri="{FF2B5EF4-FFF2-40B4-BE49-F238E27FC236}">
                <a16:creationId xmlns:a16="http://schemas.microsoft.com/office/drawing/2014/main" id="{86BF3358-CC9B-88C1-BDA8-D71D71EB0901}"/>
              </a:ext>
            </a:extLst>
          </p:cNvPr>
          <p:cNvSpPr txBox="1"/>
          <p:nvPr/>
        </p:nvSpPr>
        <p:spPr>
          <a:xfrm>
            <a:off x="3212683" y="5397918"/>
            <a:ext cx="4628814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-a</a:t>
            </a:r>
            <a:r>
              <a:rPr sz="2176" spc="-852" dirty="0">
                <a:latin typeface="Courier New"/>
                <a:cs typeface="Courier New"/>
              </a:rPr>
              <a:t> </a:t>
            </a:r>
            <a:r>
              <a:rPr sz="2176" spc="85" dirty="0">
                <a:latin typeface="Calibri"/>
                <a:cs typeface="Calibri"/>
              </a:rPr>
              <a:t>=</a:t>
            </a:r>
            <a:r>
              <a:rPr sz="2176" spc="-73" dirty="0">
                <a:latin typeface="Calibri"/>
                <a:cs typeface="Calibri"/>
              </a:rPr>
              <a:t> </a:t>
            </a:r>
            <a:r>
              <a:rPr sz="2176" spc="-30" dirty="0">
                <a:latin typeface="Calibri"/>
                <a:cs typeface="Calibri"/>
              </a:rPr>
              <a:t>Option</a:t>
            </a:r>
            <a:r>
              <a:rPr sz="2176" spc="-42" dirty="0">
                <a:latin typeface="Calibri"/>
                <a:cs typeface="Calibri"/>
              </a:rPr>
              <a:t> </a:t>
            </a:r>
            <a:r>
              <a:rPr lang="en-US" sz="2176" spc="-24" dirty="0">
                <a:latin typeface="Calibri"/>
                <a:cs typeface="Calibri"/>
              </a:rPr>
              <a:t>for hidden files </a:t>
            </a:r>
            <a:r>
              <a:rPr sz="2176" spc="-12" dirty="0">
                <a:latin typeface="Calibri"/>
                <a:cs typeface="Calibri"/>
              </a:rPr>
              <a:t>(“all”)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43" name="object 40">
            <a:extLst>
              <a:ext uri="{FF2B5EF4-FFF2-40B4-BE49-F238E27FC236}">
                <a16:creationId xmlns:a16="http://schemas.microsoft.com/office/drawing/2014/main" id="{E9B434FC-0232-10D2-4C51-9AAFC46ECECA}"/>
              </a:ext>
            </a:extLst>
          </p:cNvPr>
          <p:cNvSpPr txBox="1"/>
          <p:nvPr/>
        </p:nvSpPr>
        <p:spPr>
          <a:xfrm>
            <a:off x="2648904" y="5834266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127" dirty="0">
                <a:latin typeface="Arial"/>
                <a:cs typeface="Arial"/>
              </a:rPr>
              <a:t>●</a:t>
            </a:r>
            <a:endParaRPr sz="967">
              <a:latin typeface="Arial"/>
              <a:cs typeface="Arial"/>
            </a:endParaRPr>
          </a:p>
        </p:txBody>
      </p:sp>
      <p:sp>
        <p:nvSpPr>
          <p:cNvPr id="44" name="object 41">
            <a:extLst>
              <a:ext uri="{FF2B5EF4-FFF2-40B4-BE49-F238E27FC236}">
                <a16:creationId xmlns:a16="http://schemas.microsoft.com/office/drawing/2014/main" id="{87724E1C-7AC0-3D33-5BDD-1F6A4B7F3CDA}"/>
              </a:ext>
            </a:extLst>
          </p:cNvPr>
          <p:cNvSpPr txBox="1"/>
          <p:nvPr/>
        </p:nvSpPr>
        <p:spPr>
          <a:xfrm>
            <a:off x="2909619" y="5757229"/>
            <a:ext cx="6929018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spc="-24" dirty="0">
                <a:latin typeface="Calibri"/>
                <a:cs typeface="Calibri"/>
              </a:rPr>
              <a:t>Argument</a:t>
            </a:r>
            <a:r>
              <a:rPr sz="2176" spc="-18" dirty="0">
                <a:latin typeface="Calibri"/>
                <a:cs typeface="Calibri"/>
              </a:rPr>
              <a:t> </a:t>
            </a:r>
            <a:r>
              <a:rPr lang="en-US" sz="2176" b="1" dirty="0">
                <a:latin typeface="Calibri"/>
                <a:cs typeface="Calibri"/>
              </a:rPr>
              <a:t>empty</a:t>
            </a:r>
            <a:r>
              <a:rPr sz="2176" dirty="0">
                <a:latin typeface="Calibri"/>
                <a:cs typeface="Calibri"/>
              </a:rPr>
              <a:t>:</a:t>
            </a:r>
            <a:r>
              <a:rPr sz="2176" spc="-18" dirty="0">
                <a:latin typeface="Calibri"/>
                <a:cs typeface="Calibri"/>
              </a:rPr>
              <a:t> </a:t>
            </a:r>
            <a:r>
              <a:rPr lang="en-US" sz="2176" spc="-18" dirty="0">
                <a:latin typeface="Calibri"/>
                <a:cs typeface="Calibri"/>
              </a:rPr>
              <a:t>default is the working directory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3797CAA2-684C-A267-A748-4FB63A56A18F}"/>
              </a:ext>
            </a:extLst>
          </p:cNvPr>
          <p:cNvSpPr txBox="1"/>
          <p:nvPr/>
        </p:nvSpPr>
        <p:spPr>
          <a:xfrm>
            <a:off x="2172006" y="1417686"/>
            <a:ext cx="7162196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3144" dirty="0">
                <a:latin typeface="Courier New"/>
                <a:cs typeface="Courier New"/>
              </a:rPr>
              <a:t>&lt;</a:t>
            </a:r>
            <a:r>
              <a:rPr lang="en-US" sz="3144" dirty="0">
                <a:latin typeface="Courier New"/>
                <a:cs typeface="Courier New"/>
              </a:rPr>
              <a:t>Command</a:t>
            </a:r>
            <a:r>
              <a:rPr sz="3144" dirty="0">
                <a:latin typeface="Courier New"/>
                <a:cs typeface="Courier New"/>
              </a:rPr>
              <a:t>&gt;</a:t>
            </a:r>
            <a:r>
              <a:rPr sz="3144" spc="-151" dirty="0">
                <a:latin typeface="Courier New"/>
                <a:cs typeface="Courier New"/>
              </a:rPr>
              <a:t> </a:t>
            </a:r>
            <a:r>
              <a:rPr sz="3144" dirty="0">
                <a:latin typeface="Courier New"/>
                <a:cs typeface="Courier New"/>
              </a:rPr>
              <a:t>&lt;Flags&gt;</a:t>
            </a:r>
            <a:r>
              <a:rPr sz="3144" spc="-145" dirty="0">
                <a:latin typeface="Courier New"/>
                <a:cs typeface="Courier New"/>
              </a:rPr>
              <a:t> </a:t>
            </a:r>
            <a:r>
              <a:rPr sz="3144" spc="-12" dirty="0">
                <a:latin typeface="Courier New"/>
                <a:cs typeface="Courier New"/>
              </a:rPr>
              <a:t>&lt;Argumen</a:t>
            </a:r>
            <a:r>
              <a:rPr lang="en-US" sz="3144" spc="-12" dirty="0">
                <a:latin typeface="Courier New"/>
                <a:cs typeface="Courier New"/>
              </a:rPr>
              <a:t>t</a:t>
            </a:r>
            <a:r>
              <a:rPr sz="3144" spc="-12" dirty="0">
                <a:latin typeface="Courier New"/>
                <a:cs typeface="Courier New"/>
              </a:rPr>
              <a:t>&gt;</a:t>
            </a:r>
            <a:endParaRPr sz="3144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3352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9690-D553-49F4-170B-653692BD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commands – file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58650-A61F-8ADF-9FEF-C958A754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CAF51A2-030D-A3DF-420E-50EDF2DB6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030318"/>
              </p:ext>
            </p:extLst>
          </p:nvPr>
        </p:nvGraphicFramePr>
        <p:xfrm>
          <a:off x="954707" y="1646238"/>
          <a:ext cx="10282585" cy="447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pwd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Print what directory you are currently in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orking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irectory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cd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60" dirty="0">
                          <a:latin typeface="Calibri"/>
                          <a:cs typeface="Calibri"/>
                        </a:rPr>
                        <a:t>Move to another specified directory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hange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irectory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ls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Show the contents of the current working directory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cp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Copy files/directories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mv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25" dirty="0">
                          <a:latin typeface="Calibri"/>
                          <a:cs typeface="Calibri"/>
                        </a:rPr>
                        <a:t>Move or rename files/directories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ln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25" dirty="0">
                          <a:latin typeface="Calibri"/>
                          <a:cs typeface="Calibri"/>
                        </a:rPr>
                        <a:t>Create link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touch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Create file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mkdir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Create directory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dir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ectory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rm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Delete file (no trash can, it’s gone!)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rmdir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Delete directory (again, it’s gone!)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ove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dir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ectory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chmod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Change permissions to access file/directory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ange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mod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find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Search for file in path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7C8F-B18F-184F-0557-AA657584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commands – working with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88838-B1B3-9D79-F14B-7730140C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E6D5E175-6586-D11D-565D-79FE76404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16318"/>
              </p:ext>
            </p:extLst>
          </p:nvPr>
        </p:nvGraphicFramePr>
        <p:xfrm>
          <a:off x="954707" y="1505660"/>
          <a:ext cx="10282586" cy="4850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0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less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Display input in single page format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“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more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”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nano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Simple text editor within the command line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vim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Complex but powerful text editor within the command line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grep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Search in input for </a:t>
                      </a:r>
                      <a:r>
                        <a:rPr lang="en-US" sz="1600" spc="-1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lang="en-US"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spc="-10" dirty="0">
                          <a:latin typeface="Calibri"/>
                          <a:cs typeface="Calibri"/>
                        </a:rPr>
                        <a:t>or regular expression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lobally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eg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rint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0576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wc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Print word count of input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cat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20" dirty="0">
                          <a:latin typeface="Calibri"/>
                          <a:cs typeface="Calibri"/>
                        </a:rPr>
                        <a:t>Concatenate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spc="-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nput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1600" spc="-10" dirty="0">
                          <a:latin typeface="Calibri"/>
                          <a:cs typeface="Calibri"/>
                        </a:rPr>
                        <a:t>used mostly for printing input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)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concat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enate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sort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Sort input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uniq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Show input without duplicates or show which are duplicates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uniq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ue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cut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2188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nput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latin typeface="Calibri"/>
                          <a:cs typeface="Calibri"/>
                        </a:rPr>
                        <a:t>with “cut” sections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2188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head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Show start (“head”) of the input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tail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Show end (“tail”) of the input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diff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Show difference in two inputs line by line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diff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erence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Print input string in the command line (literally “echo” the input)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D3894C-EF53-7EBE-3B70-004EA17EBF5B}"/>
              </a:ext>
            </a:extLst>
          </p:cNvPr>
          <p:cNvSpPr txBox="1"/>
          <p:nvPr/>
        </p:nvSpPr>
        <p:spPr>
          <a:xfrm>
            <a:off x="838200" y="6492875"/>
            <a:ext cx="4116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Input = contents of a file or command output</a:t>
            </a:r>
          </a:p>
        </p:txBody>
      </p:sp>
    </p:spTree>
    <p:extLst>
      <p:ext uri="{BB962C8B-B14F-4D97-AF65-F5344CB8AC3E}">
        <p14:creationId xmlns:p14="http://schemas.microsoft.com/office/powerpoint/2010/main" val="274326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4F05-5D08-F796-94B9-24354593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commands – other stuff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96F28-C38F-1A61-DD94-58AF654F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A60D3D8A-6D5D-E07A-9E67-43F162D83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298657"/>
              </p:ext>
            </p:extLst>
          </p:nvPr>
        </p:nvGraphicFramePr>
        <p:xfrm>
          <a:off x="953233" y="1935291"/>
          <a:ext cx="10281049" cy="298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4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man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Information/support about a command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ual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apropos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Search for specific command with keywords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tar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20" dirty="0">
                          <a:latin typeface="Calibri"/>
                          <a:cs typeface="Calibri"/>
                        </a:rPr>
                        <a:t>Create/maintain files in an archive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ape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ar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chiver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gzip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spc="-20" dirty="0">
                          <a:latin typeface="Calibri"/>
                          <a:cs typeface="Calibri"/>
                        </a:rPr>
                        <a:t>Compress files/data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NU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zip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wget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20" dirty="0">
                          <a:latin typeface="Calibri"/>
                          <a:cs typeface="Calibri"/>
                        </a:rPr>
                        <a:t>Download files/data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spc="-10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600" spc="-105" dirty="0">
                          <a:latin typeface="Calibri"/>
                          <a:cs typeface="Calibri"/>
                        </a:rPr>
                        <a:t>WW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get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ssh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Remote access a different computer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ecure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sh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scp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Copy to/from remote computer using SSH protocol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12909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ecure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421" marB="0"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history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600" dirty="0">
                          <a:latin typeface="Calibri"/>
                          <a:cs typeface="Calibri"/>
                        </a:rPr>
                        <a:t>List recently used commands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0653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49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A41-B2AE-D107-3C39-76CA57B5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66"/>
            <a:ext cx="10515600" cy="1325563"/>
          </a:xfrm>
        </p:spPr>
        <p:txBody>
          <a:bodyPr/>
          <a:lstStyle/>
          <a:p>
            <a:r>
              <a:rPr lang="en-US" dirty="0"/>
              <a:t>File permissions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C3612-B0E5-2D29-2B32-ED2BA62C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9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3BD5762-1024-3E38-41DA-81A6CC9CB38C}"/>
              </a:ext>
            </a:extLst>
          </p:cNvPr>
          <p:cNvSpPr txBox="1"/>
          <p:nvPr/>
        </p:nvSpPr>
        <p:spPr>
          <a:xfrm>
            <a:off x="2304609" y="3310162"/>
            <a:ext cx="2892913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75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w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x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w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75" dirty="0">
                <a:latin typeface="Courier New"/>
                <a:cs typeface="Courier New"/>
              </a:rPr>
              <a:t> </a:t>
            </a:r>
            <a:r>
              <a:rPr sz="3144" spc="-60" dirty="0">
                <a:latin typeface="Courier New"/>
                <a:cs typeface="Courier New"/>
              </a:rPr>
              <a:t>-</a:t>
            </a:r>
            <a:endParaRPr sz="3144" dirty="0">
              <a:latin typeface="Courier New"/>
              <a:cs typeface="Courier New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AB65BDB-2538-6D34-3EB5-81DEFD36E7F2}"/>
              </a:ext>
            </a:extLst>
          </p:cNvPr>
          <p:cNvSpPr txBox="1"/>
          <p:nvPr/>
        </p:nvSpPr>
        <p:spPr>
          <a:xfrm>
            <a:off x="5509721" y="3310162"/>
            <a:ext cx="4158946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3144" dirty="0" err="1">
                <a:latin typeface="Courier New"/>
                <a:cs typeface="Courier New"/>
              </a:rPr>
              <a:t>example.txt</a:t>
            </a:r>
            <a:endParaRPr sz="3144" dirty="0">
              <a:latin typeface="Courier New"/>
              <a:cs typeface="Courier New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4145B90F-A4CE-8576-AF50-D91D9F0DF3AC}"/>
              </a:ext>
            </a:extLst>
          </p:cNvPr>
          <p:cNvGrpSpPr/>
          <p:nvPr/>
        </p:nvGrpSpPr>
        <p:grpSpPr>
          <a:xfrm>
            <a:off x="1217864" y="3796046"/>
            <a:ext cx="1360468" cy="825340"/>
            <a:chOff x="1007275" y="3138852"/>
            <a:chExt cx="1125220" cy="68262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847C77E-1945-B29F-67A6-43A93F596BB5}"/>
                </a:ext>
              </a:extLst>
            </p:cNvPr>
            <p:cNvSpPr/>
            <p:nvPr/>
          </p:nvSpPr>
          <p:spPr>
            <a:xfrm>
              <a:off x="1921675" y="3216614"/>
              <a:ext cx="200660" cy="0"/>
            </a:xfrm>
            <a:custGeom>
              <a:avLst/>
              <a:gdLst/>
              <a:ahLst/>
              <a:cxnLst/>
              <a:rect l="l" t="t" r="r" b="b"/>
              <a:pathLst>
                <a:path w="200660">
                  <a:moveTo>
                    <a:pt x="0" y="0"/>
                  </a:moveTo>
                  <a:lnTo>
                    <a:pt x="200520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6018801-5562-F196-10CF-7FCFB25C20B3}"/>
                </a:ext>
              </a:extLst>
            </p:cNvPr>
            <p:cNvSpPr/>
            <p:nvPr/>
          </p:nvSpPr>
          <p:spPr>
            <a:xfrm>
              <a:off x="1911604" y="3138851"/>
              <a:ext cx="220979" cy="155575"/>
            </a:xfrm>
            <a:custGeom>
              <a:avLst/>
              <a:gdLst/>
              <a:ahLst/>
              <a:cxnLst/>
              <a:rect l="l" t="t" r="r" b="b"/>
              <a:pathLst>
                <a:path w="2209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10" y="155511"/>
                  </a:lnTo>
                  <a:lnTo>
                    <a:pt x="20510" y="0"/>
                  </a:lnTo>
                  <a:close/>
                </a:path>
                <a:path w="220980" h="155575">
                  <a:moveTo>
                    <a:pt x="220675" y="0"/>
                  </a:moveTo>
                  <a:lnTo>
                    <a:pt x="200152" y="0"/>
                  </a:lnTo>
                  <a:lnTo>
                    <a:pt x="200152" y="155511"/>
                  </a:lnTo>
                  <a:lnTo>
                    <a:pt x="220675" y="155511"/>
                  </a:lnTo>
                  <a:lnTo>
                    <a:pt x="22067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CDC2E418-9C13-2E59-48E6-C43FBA02E13D}"/>
                </a:ext>
              </a:extLst>
            </p:cNvPr>
            <p:cNvSpPr/>
            <p:nvPr/>
          </p:nvSpPr>
          <p:spPr>
            <a:xfrm>
              <a:off x="1057325" y="3216614"/>
              <a:ext cx="964565" cy="531495"/>
            </a:xfrm>
            <a:custGeom>
              <a:avLst/>
              <a:gdLst/>
              <a:ahLst/>
              <a:cxnLst/>
              <a:rect l="l" t="t" r="r" b="b"/>
              <a:pathLst>
                <a:path w="964564" h="531495">
                  <a:moveTo>
                    <a:pt x="964437" y="0"/>
                  </a:moveTo>
                  <a:lnTo>
                    <a:pt x="964437" y="341274"/>
                  </a:lnTo>
                  <a:lnTo>
                    <a:pt x="0" y="341274"/>
                  </a:lnTo>
                  <a:lnTo>
                    <a:pt x="0" y="530999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C96E2726-0851-78BD-BC21-BABA9E1DB3FA}"/>
                </a:ext>
              </a:extLst>
            </p:cNvPr>
            <p:cNvSpPr/>
            <p:nvPr/>
          </p:nvSpPr>
          <p:spPr>
            <a:xfrm>
              <a:off x="1007275" y="3740768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B3301437-0B10-CDAF-7983-4D6AAB8F3FD9}"/>
              </a:ext>
            </a:extLst>
          </p:cNvPr>
          <p:cNvGrpSpPr/>
          <p:nvPr/>
        </p:nvGrpSpPr>
        <p:grpSpPr>
          <a:xfrm>
            <a:off x="2641625" y="3796046"/>
            <a:ext cx="773900" cy="825340"/>
            <a:chOff x="2184844" y="3138852"/>
            <a:chExt cx="640080" cy="682625"/>
          </a:xfrm>
        </p:grpSpPr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3072A08D-A679-BE89-7797-61B6ADD7EFF4}"/>
                </a:ext>
              </a:extLst>
            </p:cNvPr>
            <p:cNvSpPr/>
            <p:nvPr/>
          </p:nvSpPr>
          <p:spPr>
            <a:xfrm>
              <a:off x="2194915" y="321661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4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177ED3FA-7EDA-3067-96EE-9225FC42BAE2}"/>
                </a:ext>
              </a:extLst>
            </p:cNvPr>
            <p:cNvSpPr/>
            <p:nvPr/>
          </p:nvSpPr>
          <p:spPr>
            <a:xfrm>
              <a:off x="2184844" y="3138851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10" y="155511"/>
                  </a:lnTo>
                  <a:lnTo>
                    <a:pt x="20510" y="0"/>
                  </a:lnTo>
                  <a:close/>
                </a:path>
                <a:path w="640080" h="155575">
                  <a:moveTo>
                    <a:pt x="640080" y="0"/>
                  </a:moveTo>
                  <a:lnTo>
                    <a:pt x="619556" y="0"/>
                  </a:lnTo>
                  <a:lnTo>
                    <a:pt x="619556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E806CDF2-C7FE-922D-EE05-C869396DDC4F}"/>
                </a:ext>
              </a:extLst>
            </p:cNvPr>
            <p:cNvSpPr/>
            <p:nvPr/>
          </p:nvSpPr>
          <p:spPr>
            <a:xfrm>
              <a:off x="2411641" y="3216614"/>
              <a:ext cx="93345" cy="531495"/>
            </a:xfrm>
            <a:custGeom>
              <a:avLst/>
              <a:gdLst/>
              <a:ahLst/>
              <a:cxnLst/>
              <a:rect l="l" t="t" r="r" b="b"/>
              <a:pathLst>
                <a:path w="93344" h="531495">
                  <a:moveTo>
                    <a:pt x="93243" y="0"/>
                  </a:moveTo>
                  <a:lnTo>
                    <a:pt x="93243" y="341274"/>
                  </a:lnTo>
                  <a:lnTo>
                    <a:pt x="0" y="341274"/>
                  </a:lnTo>
                  <a:lnTo>
                    <a:pt x="0" y="530999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419A11B6-81BA-1F3C-A20D-C2FC7525BB49}"/>
                </a:ext>
              </a:extLst>
            </p:cNvPr>
            <p:cNvSpPr/>
            <p:nvPr/>
          </p:nvSpPr>
          <p:spPr>
            <a:xfrm>
              <a:off x="2361603" y="3740768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12B0B8B7-46F0-9957-E6BD-4259EB5A6C90}"/>
              </a:ext>
            </a:extLst>
          </p:cNvPr>
          <p:cNvGrpSpPr/>
          <p:nvPr/>
        </p:nvGrpSpPr>
        <p:grpSpPr>
          <a:xfrm>
            <a:off x="3512155" y="3796046"/>
            <a:ext cx="773900" cy="825340"/>
            <a:chOff x="2904845" y="3138852"/>
            <a:chExt cx="640080" cy="682625"/>
          </a:xfrm>
        </p:grpSpPr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09FAA0B4-0DEC-D7DC-0EFA-C19DC7A73DD9}"/>
                </a:ext>
              </a:extLst>
            </p:cNvPr>
            <p:cNvSpPr/>
            <p:nvPr/>
          </p:nvSpPr>
          <p:spPr>
            <a:xfrm>
              <a:off x="2914916" y="321661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5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DF6895D1-BB4B-78F5-ED25-9AE48A086E3A}"/>
                </a:ext>
              </a:extLst>
            </p:cNvPr>
            <p:cNvSpPr/>
            <p:nvPr/>
          </p:nvSpPr>
          <p:spPr>
            <a:xfrm>
              <a:off x="2904845" y="3138851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79" h="155575">
                  <a:moveTo>
                    <a:pt x="20510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10" y="155511"/>
                  </a:lnTo>
                  <a:lnTo>
                    <a:pt x="20510" y="0"/>
                  </a:lnTo>
                  <a:close/>
                </a:path>
                <a:path w="640079" h="155575">
                  <a:moveTo>
                    <a:pt x="640080" y="0"/>
                  </a:moveTo>
                  <a:lnTo>
                    <a:pt x="619556" y="0"/>
                  </a:lnTo>
                  <a:lnTo>
                    <a:pt x="619556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ABD8931F-F2BC-DA1D-5639-9F6F3604AE8F}"/>
                </a:ext>
              </a:extLst>
            </p:cNvPr>
            <p:cNvSpPr/>
            <p:nvPr/>
          </p:nvSpPr>
          <p:spPr>
            <a:xfrm>
              <a:off x="3224885" y="3216614"/>
              <a:ext cx="2540" cy="531495"/>
            </a:xfrm>
            <a:custGeom>
              <a:avLst/>
              <a:gdLst/>
              <a:ahLst/>
              <a:cxnLst/>
              <a:rect l="l" t="t" r="r" b="b"/>
              <a:pathLst>
                <a:path w="2539" h="531495">
                  <a:moveTo>
                    <a:pt x="0" y="0"/>
                  </a:moveTo>
                  <a:lnTo>
                    <a:pt x="0" y="341274"/>
                  </a:lnTo>
                  <a:lnTo>
                    <a:pt x="2159" y="341274"/>
                  </a:lnTo>
                  <a:lnTo>
                    <a:pt x="2159" y="531355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859173A6-DC8C-EB14-9CD0-5E1CF689D471}"/>
                </a:ext>
              </a:extLst>
            </p:cNvPr>
            <p:cNvSpPr/>
            <p:nvPr/>
          </p:nvSpPr>
          <p:spPr>
            <a:xfrm>
              <a:off x="3176993" y="3741124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89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22" name="object 20">
            <a:extLst>
              <a:ext uri="{FF2B5EF4-FFF2-40B4-BE49-F238E27FC236}">
                <a16:creationId xmlns:a16="http://schemas.microsoft.com/office/drawing/2014/main" id="{6204BFB1-3E4A-EE9A-1602-23B6B7044D93}"/>
              </a:ext>
            </a:extLst>
          </p:cNvPr>
          <p:cNvGrpSpPr/>
          <p:nvPr/>
        </p:nvGrpSpPr>
        <p:grpSpPr>
          <a:xfrm>
            <a:off x="4382671" y="3796045"/>
            <a:ext cx="773900" cy="826108"/>
            <a:chOff x="3624834" y="3138852"/>
            <a:chExt cx="640080" cy="683260"/>
          </a:xfrm>
        </p:grpSpPr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4D8B36F0-36C9-B327-1187-6C3766F13A28}"/>
                </a:ext>
              </a:extLst>
            </p:cNvPr>
            <p:cNvSpPr/>
            <p:nvPr/>
          </p:nvSpPr>
          <p:spPr>
            <a:xfrm>
              <a:off x="3634917" y="321661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5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71205EBC-B8C9-AD71-355A-FC762599B343}"/>
                </a:ext>
              </a:extLst>
            </p:cNvPr>
            <p:cNvSpPr/>
            <p:nvPr/>
          </p:nvSpPr>
          <p:spPr>
            <a:xfrm>
              <a:off x="3624834" y="3138851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79" h="155575">
                  <a:moveTo>
                    <a:pt x="20523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23" y="155511"/>
                  </a:lnTo>
                  <a:lnTo>
                    <a:pt x="20523" y="0"/>
                  </a:lnTo>
                  <a:close/>
                </a:path>
                <a:path w="640079" h="155575">
                  <a:moveTo>
                    <a:pt x="640080" y="0"/>
                  </a:moveTo>
                  <a:lnTo>
                    <a:pt x="619569" y="0"/>
                  </a:lnTo>
                  <a:lnTo>
                    <a:pt x="619569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D02F2961-4927-E312-3C90-3D38A0C4D01A}"/>
                </a:ext>
              </a:extLst>
            </p:cNvPr>
            <p:cNvSpPr/>
            <p:nvPr/>
          </p:nvSpPr>
          <p:spPr>
            <a:xfrm>
              <a:off x="3944874" y="3216614"/>
              <a:ext cx="100330" cy="532130"/>
            </a:xfrm>
            <a:custGeom>
              <a:avLst/>
              <a:gdLst/>
              <a:ahLst/>
              <a:cxnLst/>
              <a:rect l="l" t="t" r="r" b="b"/>
              <a:pathLst>
                <a:path w="100329" h="532129">
                  <a:moveTo>
                    <a:pt x="0" y="0"/>
                  </a:moveTo>
                  <a:lnTo>
                    <a:pt x="0" y="341630"/>
                  </a:lnTo>
                  <a:lnTo>
                    <a:pt x="100088" y="341630"/>
                  </a:lnTo>
                  <a:lnTo>
                    <a:pt x="100088" y="53171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F834014C-7704-7721-482B-938515428327}"/>
                </a:ext>
              </a:extLst>
            </p:cNvPr>
            <p:cNvSpPr/>
            <p:nvPr/>
          </p:nvSpPr>
          <p:spPr>
            <a:xfrm>
              <a:off x="3994924" y="3741492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27" name="object 25">
            <a:extLst>
              <a:ext uri="{FF2B5EF4-FFF2-40B4-BE49-F238E27FC236}">
                <a16:creationId xmlns:a16="http://schemas.microsoft.com/office/drawing/2014/main" id="{F9C277D8-21D8-936A-14FF-E08486E0C754}"/>
              </a:ext>
            </a:extLst>
          </p:cNvPr>
          <p:cNvSpPr txBox="1"/>
          <p:nvPr/>
        </p:nvSpPr>
        <p:spPr>
          <a:xfrm>
            <a:off x="542221" y="4667312"/>
            <a:ext cx="1004228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alibri"/>
                <a:cs typeface="Calibri"/>
              </a:rPr>
              <a:t>file</a:t>
            </a:r>
            <a:r>
              <a:rPr sz="2176" spc="-48" dirty="0">
                <a:latin typeface="Calibri"/>
                <a:cs typeface="Calibri"/>
              </a:rPr>
              <a:t> </a:t>
            </a:r>
            <a:r>
              <a:rPr sz="2176" spc="-12" dirty="0">
                <a:latin typeface="Calibri"/>
                <a:cs typeface="Calibri"/>
              </a:rPr>
              <a:t>type:</a:t>
            </a:r>
            <a:endParaRPr sz="2176"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B6D2926E-534E-FBDC-42C5-680558868781}"/>
              </a:ext>
            </a:extLst>
          </p:cNvPr>
          <p:cNvSpPr txBox="1"/>
          <p:nvPr/>
        </p:nvSpPr>
        <p:spPr>
          <a:xfrm>
            <a:off x="542222" y="5085172"/>
            <a:ext cx="108254" cy="131726"/>
          </a:xfrm>
          <a:prstGeom prst="rect">
            <a:avLst/>
          </a:prstGeom>
        </p:spPr>
        <p:txBody>
          <a:bodyPr vert="horz" wrap="square" lIns="0" tIns="19962" rIns="0" bIns="0" rtlCol="0">
            <a:spAutoFit/>
          </a:bodyPr>
          <a:lstStyle/>
          <a:p>
            <a:pPr marL="15356">
              <a:spcBef>
                <a:spcPts val="157"/>
              </a:spcBef>
            </a:pPr>
            <a:r>
              <a:rPr sz="725" spc="97" dirty="0">
                <a:latin typeface="Arial"/>
                <a:cs typeface="Arial"/>
              </a:rPr>
              <a:t>●</a:t>
            </a:r>
            <a:endParaRPr sz="725">
              <a:latin typeface="Arial"/>
              <a:cs typeface="Arial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969617EA-664C-610B-257A-0E1C70C6BC99}"/>
              </a:ext>
            </a:extLst>
          </p:cNvPr>
          <p:cNvSpPr txBox="1"/>
          <p:nvPr/>
        </p:nvSpPr>
        <p:spPr>
          <a:xfrm>
            <a:off x="802937" y="5001940"/>
            <a:ext cx="1206148" cy="871620"/>
          </a:xfrm>
          <a:prstGeom prst="rect">
            <a:avLst/>
          </a:prstGeom>
        </p:spPr>
        <p:txBody>
          <a:bodyPr vert="horz" wrap="square" lIns="0" tIns="38388" rIns="0" bIns="0" rtlCol="0">
            <a:spAutoFit/>
          </a:bodyPr>
          <a:lstStyle/>
          <a:p>
            <a:pPr marL="15356">
              <a:spcBef>
                <a:spcPts val="302"/>
              </a:spcBef>
            </a:pPr>
            <a:r>
              <a:rPr sz="1693" dirty="0">
                <a:latin typeface="Courier New"/>
                <a:cs typeface="Courier New"/>
              </a:rPr>
              <a:t>-</a:t>
            </a:r>
            <a:r>
              <a:rPr sz="1693" spc="-659" dirty="0">
                <a:latin typeface="Courier New"/>
                <a:cs typeface="Courier New"/>
              </a:rPr>
              <a:t> </a:t>
            </a:r>
            <a:r>
              <a:rPr sz="1693" spc="-224" dirty="0">
                <a:latin typeface="Calibri"/>
                <a:cs typeface="Calibri"/>
              </a:rPr>
              <a:t>→</a:t>
            </a:r>
            <a:r>
              <a:rPr sz="1693" spc="-12" dirty="0">
                <a:latin typeface="Calibri"/>
                <a:cs typeface="Calibri"/>
              </a:rPr>
              <a:t> </a:t>
            </a:r>
            <a:r>
              <a:rPr sz="1693" spc="-24" dirty="0">
                <a:latin typeface="Calibri"/>
                <a:cs typeface="Calibri"/>
              </a:rPr>
              <a:t>file</a:t>
            </a:r>
            <a:endParaRPr sz="1693">
              <a:latin typeface="Calibri"/>
              <a:cs typeface="Calibri"/>
            </a:endParaRPr>
          </a:p>
          <a:p>
            <a:pPr marL="15356">
              <a:spcBef>
                <a:spcPts val="181"/>
              </a:spcBef>
            </a:pPr>
            <a:r>
              <a:rPr sz="1693" dirty="0">
                <a:latin typeface="Courier New"/>
                <a:cs typeface="Courier New"/>
              </a:rPr>
              <a:t>d</a:t>
            </a:r>
            <a:r>
              <a:rPr sz="1693" spc="-659" dirty="0">
                <a:latin typeface="Courier New"/>
                <a:cs typeface="Courier New"/>
              </a:rPr>
              <a:t> </a:t>
            </a:r>
            <a:r>
              <a:rPr sz="1693" spc="-224" dirty="0">
                <a:latin typeface="Calibri"/>
                <a:cs typeface="Calibri"/>
              </a:rPr>
              <a:t>→</a:t>
            </a:r>
            <a:r>
              <a:rPr sz="1693" spc="-12" dirty="0">
                <a:latin typeface="Calibri"/>
                <a:cs typeface="Calibri"/>
              </a:rPr>
              <a:t> directory</a:t>
            </a:r>
            <a:endParaRPr sz="1693">
              <a:latin typeface="Calibri"/>
              <a:cs typeface="Calibri"/>
            </a:endParaRPr>
          </a:p>
          <a:p>
            <a:pPr marL="15356">
              <a:spcBef>
                <a:spcPts val="169"/>
              </a:spcBef>
            </a:pPr>
            <a:r>
              <a:rPr sz="1693" dirty="0">
                <a:latin typeface="Courier New"/>
                <a:cs typeface="Courier New"/>
              </a:rPr>
              <a:t>l</a:t>
            </a:r>
            <a:r>
              <a:rPr sz="1693" spc="-659" dirty="0">
                <a:latin typeface="Courier New"/>
                <a:cs typeface="Courier New"/>
              </a:rPr>
              <a:t> </a:t>
            </a:r>
            <a:r>
              <a:rPr sz="1693" spc="-224" dirty="0">
                <a:latin typeface="Calibri"/>
                <a:cs typeface="Calibri"/>
              </a:rPr>
              <a:t>→</a:t>
            </a:r>
            <a:r>
              <a:rPr sz="1693" spc="-12" dirty="0">
                <a:latin typeface="Calibri"/>
                <a:cs typeface="Calibri"/>
              </a:rPr>
              <a:t> </a:t>
            </a:r>
            <a:r>
              <a:rPr sz="1693" spc="-24" dirty="0">
                <a:latin typeface="Calibri"/>
                <a:cs typeface="Calibri"/>
              </a:rPr>
              <a:t>link</a:t>
            </a:r>
            <a:endParaRPr sz="1693">
              <a:latin typeface="Calibri"/>
              <a:cs typeface="Calibri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A6631FCB-321D-1321-7132-2FDDBE9B3C47}"/>
              </a:ext>
            </a:extLst>
          </p:cNvPr>
          <p:cNvSpPr txBox="1"/>
          <p:nvPr/>
        </p:nvSpPr>
        <p:spPr>
          <a:xfrm>
            <a:off x="542222" y="5364605"/>
            <a:ext cx="108254" cy="131726"/>
          </a:xfrm>
          <a:prstGeom prst="rect">
            <a:avLst/>
          </a:prstGeom>
        </p:spPr>
        <p:txBody>
          <a:bodyPr vert="horz" wrap="square" lIns="0" tIns="19962" rIns="0" bIns="0" rtlCol="0">
            <a:spAutoFit/>
          </a:bodyPr>
          <a:lstStyle/>
          <a:p>
            <a:pPr marL="15356">
              <a:spcBef>
                <a:spcPts val="157"/>
              </a:spcBef>
            </a:pPr>
            <a:r>
              <a:rPr sz="725" spc="97" dirty="0">
                <a:latin typeface="Arial"/>
                <a:cs typeface="Arial"/>
              </a:rPr>
              <a:t>●</a:t>
            </a:r>
            <a:endParaRPr sz="725">
              <a:latin typeface="Arial"/>
              <a:cs typeface="Arial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A7E0370F-1E47-F920-EE1C-8E368A6CB979}"/>
              </a:ext>
            </a:extLst>
          </p:cNvPr>
          <p:cNvSpPr txBox="1"/>
          <p:nvPr/>
        </p:nvSpPr>
        <p:spPr>
          <a:xfrm>
            <a:off x="542222" y="5644054"/>
            <a:ext cx="108254" cy="131726"/>
          </a:xfrm>
          <a:prstGeom prst="rect">
            <a:avLst/>
          </a:prstGeom>
        </p:spPr>
        <p:txBody>
          <a:bodyPr vert="horz" wrap="square" lIns="0" tIns="19962" rIns="0" bIns="0" rtlCol="0">
            <a:spAutoFit/>
          </a:bodyPr>
          <a:lstStyle/>
          <a:p>
            <a:pPr marL="15356">
              <a:spcBef>
                <a:spcPts val="157"/>
              </a:spcBef>
            </a:pPr>
            <a:r>
              <a:rPr sz="725" spc="97" dirty="0">
                <a:latin typeface="Arial"/>
                <a:cs typeface="Arial"/>
              </a:rPr>
              <a:t>●</a:t>
            </a:r>
            <a:endParaRPr sz="725">
              <a:latin typeface="Arial"/>
              <a:cs typeface="Arial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0BA2F8BC-7340-5BEB-9C84-1AAF0AC45F13}"/>
              </a:ext>
            </a:extLst>
          </p:cNvPr>
          <p:cNvSpPr txBox="1"/>
          <p:nvPr/>
        </p:nvSpPr>
        <p:spPr>
          <a:xfrm>
            <a:off x="2576642" y="4667312"/>
            <a:ext cx="529753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24" dirty="0">
                <a:solidFill>
                  <a:srgbClr val="ED6676"/>
                </a:solidFill>
                <a:latin typeface="Calibri"/>
                <a:cs typeface="Calibri"/>
              </a:rPr>
              <a:t>u</a:t>
            </a:r>
            <a:r>
              <a:rPr sz="2176" spc="-24" dirty="0">
                <a:latin typeface="Calibri"/>
                <a:cs typeface="Calibri"/>
              </a:rPr>
              <a:t>ser</a:t>
            </a:r>
            <a:endParaRPr sz="2176">
              <a:latin typeface="Calibri"/>
              <a:cs typeface="Calibri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2FF6EA1D-627F-F89A-556C-FEBCFA64A880}"/>
              </a:ext>
            </a:extLst>
          </p:cNvPr>
          <p:cNvSpPr txBox="1"/>
          <p:nvPr/>
        </p:nvSpPr>
        <p:spPr>
          <a:xfrm>
            <a:off x="3556424" y="4667312"/>
            <a:ext cx="68637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12" dirty="0">
                <a:solidFill>
                  <a:srgbClr val="ED6676"/>
                </a:solidFill>
                <a:latin typeface="Calibri"/>
                <a:cs typeface="Calibri"/>
              </a:rPr>
              <a:t>g</a:t>
            </a:r>
            <a:r>
              <a:rPr sz="2176" spc="-12" dirty="0">
                <a:latin typeface="Calibri"/>
                <a:cs typeface="Calibri"/>
              </a:rPr>
              <a:t>roup</a:t>
            </a:r>
            <a:endParaRPr sz="2176">
              <a:latin typeface="Calibri"/>
              <a:cs typeface="Calibri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D1730BDC-126F-4CBA-D000-518C6E21BD79}"/>
              </a:ext>
            </a:extLst>
          </p:cNvPr>
          <p:cNvSpPr txBox="1"/>
          <p:nvPr/>
        </p:nvSpPr>
        <p:spPr>
          <a:xfrm>
            <a:off x="4528376" y="4669063"/>
            <a:ext cx="628794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30" dirty="0">
                <a:solidFill>
                  <a:srgbClr val="ED6676"/>
                </a:solidFill>
                <a:latin typeface="Calibri"/>
                <a:cs typeface="Calibri"/>
              </a:rPr>
              <a:t>o</a:t>
            </a:r>
            <a:r>
              <a:rPr sz="2176" spc="-30" dirty="0">
                <a:latin typeface="Calibri"/>
                <a:cs typeface="Calibri"/>
              </a:rPr>
              <a:t>ther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C171D726-7EC1-DF31-A12B-8F0DBF9DC5AB}"/>
              </a:ext>
            </a:extLst>
          </p:cNvPr>
          <p:cNvSpPr txBox="1"/>
          <p:nvPr/>
        </p:nvSpPr>
        <p:spPr>
          <a:xfrm>
            <a:off x="3700502" y="5278432"/>
            <a:ext cx="307871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30" dirty="0">
                <a:solidFill>
                  <a:srgbClr val="ED6676"/>
                </a:solidFill>
                <a:latin typeface="Calibri"/>
                <a:cs typeface="Calibri"/>
              </a:rPr>
              <a:t>a</a:t>
            </a:r>
            <a:r>
              <a:rPr sz="2176" spc="-30" dirty="0">
                <a:latin typeface="Calibri"/>
                <a:cs typeface="Calibri"/>
              </a:rPr>
              <a:t>ll</a:t>
            </a:r>
            <a:endParaRPr sz="2176">
              <a:latin typeface="Calibri"/>
              <a:cs typeface="Calibri"/>
            </a:endParaRPr>
          </a:p>
        </p:txBody>
      </p:sp>
      <p:grpSp>
        <p:nvGrpSpPr>
          <p:cNvPr id="36" name="object 34">
            <a:extLst>
              <a:ext uri="{FF2B5EF4-FFF2-40B4-BE49-F238E27FC236}">
                <a16:creationId xmlns:a16="http://schemas.microsoft.com/office/drawing/2014/main" id="{D919A84D-7D50-398F-D6B6-123777E03ED4}"/>
              </a:ext>
            </a:extLst>
          </p:cNvPr>
          <p:cNvGrpSpPr/>
          <p:nvPr/>
        </p:nvGrpSpPr>
        <p:grpSpPr>
          <a:xfrm>
            <a:off x="2622032" y="5101833"/>
            <a:ext cx="2519782" cy="188101"/>
            <a:chOff x="2168639" y="4218847"/>
            <a:chExt cx="2084070" cy="155575"/>
          </a:xfrm>
        </p:grpSpPr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B17DF3DF-9346-8143-9D76-7EF9CC25FCE8}"/>
                </a:ext>
              </a:extLst>
            </p:cNvPr>
            <p:cNvSpPr/>
            <p:nvPr/>
          </p:nvSpPr>
          <p:spPr>
            <a:xfrm>
              <a:off x="2178723" y="4296609"/>
              <a:ext cx="2063750" cy="0"/>
            </a:xfrm>
            <a:custGeom>
              <a:avLst/>
              <a:gdLst/>
              <a:ahLst/>
              <a:cxnLst/>
              <a:rect l="l" t="t" r="r" b="b"/>
              <a:pathLst>
                <a:path w="2063750">
                  <a:moveTo>
                    <a:pt x="0" y="0"/>
                  </a:moveTo>
                  <a:lnTo>
                    <a:pt x="2063521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EE12F4A0-14D1-DD13-19DA-72FB2218A718}"/>
                </a:ext>
              </a:extLst>
            </p:cNvPr>
            <p:cNvSpPr/>
            <p:nvPr/>
          </p:nvSpPr>
          <p:spPr>
            <a:xfrm>
              <a:off x="2168639" y="4218847"/>
              <a:ext cx="2084070" cy="155575"/>
            </a:xfrm>
            <a:custGeom>
              <a:avLst/>
              <a:gdLst/>
              <a:ahLst/>
              <a:cxnLst/>
              <a:rect l="l" t="t" r="r" b="b"/>
              <a:pathLst>
                <a:path w="208407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2084070" h="155575">
                  <a:moveTo>
                    <a:pt x="2083676" y="0"/>
                  </a:moveTo>
                  <a:lnTo>
                    <a:pt x="2063165" y="0"/>
                  </a:lnTo>
                  <a:lnTo>
                    <a:pt x="2063165" y="155524"/>
                  </a:lnTo>
                  <a:lnTo>
                    <a:pt x="2083676" y="155524"/>
                  </a:lnTo>
                  <a:lnTo>
                    <a:pt x="2083676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39" name="object 37">
            <a:extLst>
              <a:ext uri="{FF2B5EF4-FFF2-40B4-BE49-F238E27FC236}">
                <a16:creationId xmlns:a16="http://schemas.microsoft.com/office/drawing/2014/main" id="{86A06F35-6E02-1E32-CFDD-FB53B8E95C7C}"/>
              </a:ext>
            </a:extLst>
          </p:cNvPr>
          <p:cNvGrpSpPr/>
          <p:nvPr/>
        </p:nvGrpSpPr>
        <p:grpSpPr>
          <a:xfrm>
            <a:off x="2640319" y="1574015"/>
            <a:ext cx="1148566" cy="1844923"/>
            <a:chOff x="2183764" y="1301047"/>
            <a:chExt cx="949960" cy="1525905"/>
          </a:xfrm>
        </p:grpSpPr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049AA847-B72E-3689-09B9-339B29AA1AB8}"/>
                </a:ext>
              </a:extLst>
            </p:cNvPr>
            <p:cNvSpPr/>
            <p:nvPr/>
          </p:nvSpPr>
          <p:spPr>
            <a:xfrm>
              <a:off x="2430360" y="274860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4">
                  <a:moveTo>
                    <a:pt x="0" y="0"/>
                  </a:moveTo>
                  <a:lnTo>
                    <a:pt x="1627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2B281640-2C33-9FC7-B973-7507E839F2B7}"/>
                </a:ext>
              </a:extLst>
            </p:cNvPr>
            <p:cNvSpPr/>
            <p:nvPr/>
          </p:nvSpPr>
          <p:spPr>
            <a:xfrm>
              <a:off x="2420277" y="2670844"/>
              <a:ext cx="182880" cy="155575"/>
            </a:xfrm>
            <a:custGeom>
              <a:avLst/>
              <a:gdLst/>
              <a:ahLst/>
              <a:cxnLst/>
              <a:rect l="l" t="t" r="r" b="b"/>
              <a:pathLst>
                <a:path w="18288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182880" h="155575">
                  <a:moveTo>
                    <a:pt x="182880" y="0"/>
                  </a:moveTo>
                  <a:lnTo>
                    <a:pt x="162356" y="0"/>
                  </a:lnTo>
                  <a:lnTo>
                    <a:pt x="162356" y="155524"/>
                  </a:lnTo>
                  <a:lnTo>
                    <a:pt x="182880" y="155524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76C90D93-51DA-39D5-40A4-4AC2FA757CAB}"/>
                </a:ext>
              </a:extLst>
            </p:cNvPr>
            <p:cNvSpPr/>
            <p:nvPr/>
          </p:nvSpPr>
          <p:spPr>
            <a:xfrm>
              <a:off x="2193836" y="274860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4">
                  <a:moveTo>
                    <a:pt x="0" y="0"/>
                  </a:moveTo>
                  <a:lnTo>
                    <a:pt x="1627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C41EE67A-4169-B47E-780C-804A380B93AF}"/>
                </a:ext>
              </a:extLst>
            </p:cNvPr>
            <p:cNvSpPr/>
            <p:nvPr/>
          </p:nvSpPr>
          <p:spPr>
            <a:xfrm>
              <a:off x="2183765" y="2670844"/>
              <a:ext cx="182880" cy="155575"/>
            </a:xfrm>
            <a:custGeom>
              <a:avLst/>
              <a:gdLst/>
              <a:ahLst/>
              <a:cxnLst/>
              <a:rect l="l" t="t" r="r" b="b"/>
              <a:pathLst>
                <a:path w="1828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10" y="155524"/>
                  </a:lnTo>
                  <a:lnTo>
                    <a:pt x="20510" y="0"/>
                  </a:lnTo>
                  <a:close/>
                </a:path>
                <a:path w="182880" h="155575">
                  <a:moveTo>
                    <a:pt x="182880" y="0"/>
                  </a:moveTo>
                  <a:lnTo>
                    <a:pt x="162356" y="0"/>
                  </a:lnTo>
                  <a:lnTo>
                    <a:pt x="162356" y="155524"/>
                  </a:lnTo>
                  <a:lnTo>
                    <a:pt x="182880" y="155524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E5F3B821-0F9F-5DA4-BD44-A733ADAD671B}"/>
                </a:ext>
              </a:extLst>
            </p:cNvPr>
            <p:cNvSpPr/>
            <p:nvPr/>
          </p:nvSpPr>
          <p:spPr>
            <a:xfrm>
              <a:off x="2666517" y="274860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4">
                  <a:moveTo>
                    <a:pt x="0" y="0"/>
                  </a:moveTo>
                  <a:lnTo>
                    <a:pt x="1627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1AF9B8E9-57BC-FAE3-DFE6-9DA1D70C41E0}"/>
                </a:ext>
              </a:extLst>
            </p:cNvPr>
            <p:cNvSpPr/>
            <p:nvPr/>
          </p:nvSpPr>
          <p:spPr>
            <a:xfrm>
              <a:off x="2656446" y="2670844"/>
              <a:ext cx="182880" cy="155575"/>
            </a:xfrm>
            <a:custGeom>
              <a:avLst/>
              <a:gdLst/>
              <a:ahLst/>
              <a:cxnLst/>
              <a:rect l="l" t="t" r="r" b="b"/>
              <a:pathLst>
                <a:path w="1828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10" y="155524"/>
                  </a:lnTo>
                  <a:lnTo>
                    <a:pt x="20510" y="0"/>
                  </a:lnTo>
                  <a:close/>
                </a:path>
                <a:path w="182880" h="155575">
                  <a:moveTo>
                    <a:pt x="182880" y="0"/>
                  </a:moveTo>
                  <a:lnTo>
                    <a:pt x="162356" y="0"/>
                  </a:lnTo>
                  <a:lnTo>
                    <a:pt x="162356" y="155524"/>
                  </a:lnTo>
                  <a:lnTo>
                    <a:pt x="182880" y="155524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1A59E707-DCE5-2B00-ACA4-5502EEF68EE5}"/>
                </a:ext>
              </a:extLst>
            </p:cNvPr>
            <p:cNvSpPr/>
            <p:nvPr/>
          </p:nvSpPr>
          <p:spPr>
            <a:xfrm>
              <a:off x="2275204" y="1351085"/>
              <a:ext cx="784860" cy="1397635"/>
            </a:xfrm>
            <a:custGeom>
              <a:avLst/>
              <a:gdLst/>
              <a:ahLst/>
              <a:cxnLst/>
              <a:rect l="l" t="t" r="r" b="b"/>
              <a:pathLst>
                <a:path w="784860" h="1397635">
                  <a:moveTo>
                    <a:pt x="0" y="1397520"/>
                  </a:moveTo>
                  <a:lnTo>
                    <a:pt x="10794" y="1397520"/>
                  </a:lnTo>
                  <a:lnTo>
                    <a:pt x="10794" y="0"/>
                  </a:lnTo>
                  <a:lnTo>
                    <a:pt x="784796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7" name="object 45">
              <a:extLst>
                <a:ext uri="{FF2B5EF4-FFF2-40B4-BE49-F238E27FC236}">
                  <a16:creationId xmlns:a16="http://schemas.microsoft.com/office/drawing/2014/main" id="{C688C306-54F8-8903-B312-F60758F13FEE}"/>
                </a:ext>
              </a:extLst>
            </p:cNvPr>
            <p:cNvSpPr/>
            <p:nvPr/>
          </p:nvSpPr>
          <p:spPr>
            <a:xfrm>
              <a:off x="3053156" y="1301047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4" h="100965">
                  <a:moveTo>
                    <a:pt x="0" y="0"/>
                  </a:moveTo>
                  <a:lnTo>
                    <a:pt x="0" y="100444"/>
                  </a:lnTo>
                  <a:lnTo>
                    <a:pt x="80289" y="5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8" name="object 46">
              <a:extLst>
                <a:ext uri="{FF2B5EF4-FFF2-40B4-BE49-F238E27FC236}">
                  <a16:creationId xmlns:a16="http://schemas.microsoft.com/office/drawing/2014/main" id="{1AB17FE7-4FB2-04F0-AC54-A7D1215FCB03}"/>
                </a:ext>
              </a:extLst>
            </p:cNvPr>
            <p:cNvSpPr/>
            <p:nvPr/>
          </p:nvSpPr>
          <p:spPr>
            <a:xfrm>
              <a:off x="2511717" y="1639451"/>
              <a:ext cx="548640" cy="1109345"/>
            </a:xfrm>
            <a:custGeom>
              <a:avLst/>
              <a:gdLst/>
              <a:ahLst/>
              <a:cxnLst/>
              <a:rect l="l" t="t" r="r" b="b"/>
              <a:pathLst>
                <a:path w="548639" h="1109345">
                  <a:moveTo>
                    <a:pt x="0" y="1109154"/>
                  </a:moveTo>
                  <a:lnTo>
                    <a:pt x="0" y="0"/>
                  </a:lnTo>
                  <a:lnTo>
                    <a:pt x="548284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1E24D7E7-2093-3515-280D-02BE62F05707}"/>
                </a:ext>
              </a:extLst>
            </p:cNvPr>
            <p:cNvSpPr/>
            <p:nvPr/>
          </p:nvSpPr>
          <p:spPr>
            <a:xfrm>
              <a:off x="3053156" y="1589413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4" h="100964">
                  <a:moveTo>
                    <a:pt x="0" y="0"/>
                  </a:moveTo>
                  <a:lnTo>
                    <a:pt x="0" y="100431"/>
                  </a:lnTo>
                  <a:lnTo>
                    <a:pt x="80289" y="5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50" name="object 48">
              <a:extLst>
                <a:ext uri="{FF2B5EF4-FFF2-40B4-BE49-F238E27FC236}">
                  <a16:creationId xmlns:a16="http://schemas.microsoft.com/office/drawing/2014/main" id="{4B567263-3BEC-74D9-D0FE-3B0A58D1BE8F}"/>
                </a:ext>
              </a:extLst>
            </p:cNvPr>
            <p:cNvSpPr/>
            <p:nvPr/>
          </p:nvSpPr>
          <p:spPr>
            <a:xfrm>
              <a:off x="2747886" y="1927449"/>
              <a:ext cx="312420" cy="821690"/>
            </a:xfrm>
            <a:custGeom>
              <a:avLst/>
              <a:gdLst/>
              <a:ahLst/>
              <a:cxnLst/>
              <a:rect l="l" t="t" r="r" b="b"/>
              <a:pathLst>
                <a:path w="312419" h="821689">
                  <a:moveTo>
                    <a:pt x="0" y="821156"/>
                  </a:moveTo>
                  <a:lnTo>
                    <a:pt x="0" y="0"/>
                  </a:lnTo>
                  <a:lnTo>
                    <a:pt x="312115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51" name="object 49">
              <a:extLst>
                <a:ext uri="{FF2B5EF4-FFF2-40B4-BE49-F238E27FC236}">
                  <a16:creationId xmlns:a16="http://schemas.microsoft.com/office/drawing/2014/main" id="{65A7ACC6-36A7-EF18-219A-4DB0E880EB2E}"/>
                </a:ext>
              </a:extLst>
            </p:cNvPr>
            <p:cNvSpPr/>
            <p:nvPr/>
          </p:nvSpPr>
          <p:spPr>
            <a:xfrm>
              <a:off x="3053156" y="1877411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4" h="100964">
                  <a:moveTo>
                    <a:pt x="0" y="0"/>
                  </a:moveTo>
                  <a:lnTo>
                    <a:pt x="0" y="100431"/>
                  </a:lnTo>
                  <a:lnTo>
                    <a:pt x="80289" y="5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52" name="object 50">
            <a:extLst>
              <a:ext uri="{FF2B5EF4-FFF2-40B4-BE49-F238E27FC236}">
                <a16:creationId xmlns:a16="http://schemas.microsoft.com/office/drawing/2014/main" id="{4AFD2204-3B62-DF91-445B-5F4F8E64902E}"/>
              </a:ext>
            </a:extLst>
          </p:cNvPr>
          <p:cNvSpPr txBox="1"/>
          <p:nvPr/>
        </p:nvSpPr>
        <p:spPr>
          <a:xfrm>
            <a:off x="3881999" y="1447227"/>
            <a:ext cx="545875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24" dirty="0">
                <a:solidFill>
                  <a:srgbClr val="ED6676"/>
                </a:solidFill>
                <a:latin typeface="Calibri"/>
                <a:cs typeface="Calibri"/>
              </a:rPr>
              <a:t>r</a:t>
            </a:r>
            <a:r>
              <a:rPr sz="2176" spc="-24" dirty="0">
                <a:latin typeface="Calibri"/>
                <a:cs typeface="Calibri"/>
              </a:rPr>
              <a:t>ead</a:t>
            </a:r>
            <a:endParaRPr sz="2176">
              <a:latin typeface="Calibri"/>
              <a:cs typeface="Calibri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81C0DEE2-A49E-5D13-60FE-0C41C88AB9AA}"/>
              </a:ext>
            </a:extLst>
          </p:cNvPr>
          <p:cNvSpPr txBox="1"/>
          <p:nvPr/>
        </p:nvSpPr>
        <p:spPr>
          <a:xfrm>
            <a:off x="4970605" y="1447227"/>
            <a:ext cx="247755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2176" dirty="0">
                <a:solidFill>
                  <a:srgbClr val="BABABA"/>
                </a:solidFill>
                <a:latin typeface="Calibri"/>
                <a:cs typeface="Calibri"/>
              </a:rPr>
              <a:t>Read</a:t>
            </a:r>
            <a:r>
              <a:rPr sz="2176" spc="-12" dirty="0">
                <a:solidFill>
                  <a:srgbClr val="BABABA"/>
                </a:solidFill>
                <a:latin typeface="Calibri"/>
                <a:cs typeface="Calibri"/>
              </a:rPr>
              <a:t>,</a:t>
            </a:r>
            <a:r>
              <a:rPr lang="en-US" sz="2176" spc="-12" dirty="0">
                <a:solidFill>
                  <a:srgbClr val="BABABA"/>
                </a:solidFill>
                <a:latin typeface="Calibri"/>
                <a:cs typeface="Calibri"/>
              </a:rPr>
              <a:t> print, copy</a:t>
            </a:r>
            <a:r>
              <a:rPr sz="2176" spc="-67" dirty="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sz="2176" spc="-30" dirty="0">
                <a:solidFill>
                  <a:srgbClr val="BABABA"/>
                </a:solidFill>
                <a:latin typeface="Calibri"/>
                <a:cs typeface="Calibri"/>
              </a:rPr>
              <a:t>...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6DDEEABE-573F-0C45-6C11-651FC30BA872}"/>
              </a:ext>
            </a:extLst>
          </p:cNvPr>
          <p:cNvSpPr txBox="1"/>
          <p:nvPr/>
        </p:nvSpPr>
        <p:spPr>
          <a:xfrm>
            <a:off x="3882000" y="1778914"/>
            <a:ext cx="6079877" cy="71730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05100"/>
              </a:lnSpc>
              <a:spcBef>
                <a:spcPts val="121"/>
              </a:spcBef>
              <a:tabLst>
                <a:tab pos="1103296" algn="l"/>
              </a:tabLst>
            </a:pPr>
            <a:r>
              <a:rPr sz="2176" b="1" spc="-12" dirty="0">
                <a:solidFill>
                  <a:srgbClr val="ED6676"/>
                </a:solidFill>
                <a:latin typeface="Calibri"/>
                <a:cs typeface="Calibri"/>
              </a:rPr>
              <a:t>w</a:t>
            </a:r>
            <a:r>
              <a:rPr sz="2176" spc="-12" dirty="0">
                <a:latin typeface="Calibri"/>
                <a:cs typeface="Calibri"/>
              </a:rPr>
              <a:t>rite</a:t>
            </a:r>
            <a:r>
              <a:rPr sz="2176" dirty="0">
                <a:latin typeface="Calibri"/>
                <a:cs typeface="Calibri"/>
              </a:rPr>
              <a:t>	</a:t>
            </a:r>
            <a:r>
              <a:rPr lang="en-US" sz="2176" spc="-12" dirty="0">
                <a:solidFill>
                  <a:srgbClr val="BABABA"/>
                </a:solidFill>
                <a:latin typeface="Calibri"/>
                <a:cs typeface="Calibri"/>
              </a:rPr>
              <a:t>Edit</a:t>
            </a:r>
            <a:r>
              <a:rPr sz="2176" spc="-12" dirty="0">
                <a:solidFill>
                  <a:srgbClr val="BABABA"/>
                </a:solidFill>
                <a:latin typeface="Calibri"/>
                <a:cs typeface="Calibri"/>
              </a:rPr>
              <a:t>,</a:t>
            </a:r>
            <a:r>
              <a:rPr sz="2176" spc="-30" dirty="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lang="en-US" sz="2176" spc="-30" dirty="0">
                <a:solidFill>
                  <a:srgbClr val="BABABA"/>
                </a:solidFill>
                <a:latin typeface="Calibri"/>
                <a:cs typeface="Calibri"/>
              </a:rPr>
              <a:t>rename</a:t>
            </a:r>
            <a:r>
              <a:rPr sz="2176" spc="-30" dirty="0">
                <a:solidFill>
                  <a:srgbClr val="BABABA"/>
                </a:solidFill>
                <a:latin typeface="Calibri"/>
                <a:cs typeface="Calibri"/>
              </a:rPr>
              <a:t>,</a:t>
            </a:r>
            <a:r>
              <a:rPr sz="2176" spc="-24" dirty="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lang="en-US" sz="2176" dirty="0">
                <a:solidFill>
                  <a:srgbClr val="BABABA"/>
                </a:solidFill>
                <a:latin typeface="Calibri"/>
                <a:cs typeface="Calibri"/>
              </a:rPr>
              <a:t>create</a:t>
            </a:r>
            <a:r>
              <a:rPr sz="2176" dirty="0">
                <a:solidFill>
                  <a:srgbClr val="BABABA"/>
                </a:solidFill>
                <a:latin typeface="Calibri"/>
                <a:cs typeface="Calibri"/>
              </a:rPr>
              <a:t>,</a:t>
            </a:r>
            <a:r>
              <a:rPr sz="2176" spc="-24" dirty="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lang="en-US" sz="2176" dirty="0">
                <a:solidFill>
                  <a:srgbClr val="BABABA"/>
                </a:solidFill>
                <a:latin typeface="Calibri"/>
                <a:cs typeface="Calibri"/>
              </a:rPr>
              <a:t>delete</a:t>
            </a:r>
            <a:r>
              <a:rPr sz="2176" dirty="0">
                <a:solidFill>
                  <a:srgbClr val="BABABA"/>
                </a:solidFill>
                <a:latin typeface="Calibri"/>
                <a:cs typeface="Calibri"/>
              </a:rPr>
              <a:t>,</a:t>
            </a:r>
            <a:r>
              <a:rPr sz="2176" spc="-18" dirty="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sz="2176" spc="-30" dirty="0">
                <a:solidFill>
                  <a:srgbClr val="BABABA"/>
                </a:solidFill>
                <a:latin typeface="Calibri"/>
                <a:cs typeface="Calibri"/>
              </a:rPr>
              <a:t>... </a:t>
            </a:r>
            <a:endParaRPr lang="en-US" sz="2176" spc="-30" dirty="0">
              <a:solidFill>
                <a:srgbClr val="BABABA"/>
              </a:solidFill>
              <a:latin typeface="Calibri"/>
              <a:cs typeface="Calibri"/>
            </a:endParaRPr>
          </a:p>
          <a:p>
            <a:pPr marL="15356" marR="6142">
              <a:lnSpc>
                <a:spcPct val="105100"/>
              </a:lnSpc>
              <a:spcBef>
                <a:spcPts val="121"/>
              </a:spcBef>
              <a:tabLst>
                <a:tab pos="1103296" algn="l"/>
              </a:tabLst>
            </a:pPr>
            <a:r>
              <a:rPr sz="2176" spc="-12" dirty="0">
                <a:latin typeface="Calibri"/>
                <a:cs typeface="Calibri"/>
              </a:rPr>
              <a:t>e</a:t>
            </a:r>
            <a:r>
              <a:rPr sz="2176" b="1" spc="-12" dirty="0">
                <a:solidFill>
                  <a:srgbClr val="ED6676"/>
                </a:solidFill>
                <a:latin typeface="Calibri"/>
                <a:cs typeface="Calibri"/>
              </a:rPr>
              <a:t>x</a:t>
            </a:r>
            <a:r>
              <a:rPr sz="2176" spc="-12" dirty="0">
                <a:latin typeface="Calibri"/>
                <a:cs typeface="Calibri"/>
              </a:rPr>
              <a:t>ecute</a:t>
            </a:r>
            <a:r>
              <a:rPr sz="2176" dirty="0">
                <a:latin typeface="Calibri"/>
                <a:cs typeface="Calibri"/>
              </a:rPr>
              <a:t>	</a:t>
            </a:r>
            <a:r>
              <a:rPr lang="en-US" sz="2176" spc="-12" dirty="0">
                <a:solidFill>
                  <a:srgbClr val="BABABA"/>
                </a:solidFill>
                <a:latin typeface="Calibri"/>
                <a:cs typeface="Calibri"/>
              </a:rPr>
              <a:t>Run file as program/script</a:t>
            </a:r>
            <a:endParaRPr sz="2176" dirty="0">
              <a:latin typeface="Calibri"/>
              <a:cs typeface="Calibri"/>
            </a:endParaRPr>
          </a:p>
        </p:txBody>
      </p:sp>
      <p:grpSp>
        <p:nvGrpSpPr>
          <p:cNvPr id="55" name="object 53">
            <a:extLst>
              <a:ext uri="{FF2B5EF4-FFF2-40B4-BE49-F238E27FC236}">
                <a16:creationId xmlns:a16="http://schemas.microsoft.com/office/drawing/2014/main" id="{B0CC05AF-4674-DFB6-DEBC-D7FAB9E2E1C8}"/>
              </a:ext>
            </a:extLst>
          </p:cNvPr>
          <p:cNvGrpSpPr/>
          <p:nvPr/>
        </p:nvGrpSpPr>
        <p:grpSpPr>
          <a:xfrm>
            <a:off x="10187797" y="1244078"/>
            <a:ext cx="188101" cy="1990029"/>
            <a:chOff x="8426157" y="1028162"/>
            <a:chExt cx="155575" cy="1645920"/>
          </a:xfrm>
        </p:grpSpPr>
        <p:sp>
          <p:nvSpPr>
            <p:cNvPr id="56" name="object 54">
              <a:extLst>
                <a:ext uri="{FF2B5EF4-FFF2-40B4-BE49-F238E27FC236}">
                  <a16:creationId xmlns:a16="http://schemas.microsoft.com/office/drawing/2014/main" id="{54422B78-BE7A-83EB-91F8-B3DF2AD09835}"/>
                </a:ext>
              </a:extLst>
            </p:cNvPr>
            <p:cNvSpPr/>
            <p:nvPr/>
          </p:nvSpPr>
          <p:spPr>
            <a:xfrm>
              <a:off x="8503919" y="1038246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h="1626235">
                  <a:moveTo>
                    <a:pt x="0" y="0"/>
                  </a:moveTo>
                  <a:lnTo>
                    <a:pt x="0" y="1625765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57" name="object 55">
              <a:extLst>
                <a:ext uri="{FF2B5EF4-FFF2-40B4-BE49-F238E27FC236}">
                  <a16:creationId xmlns:a16="http://schemas.microsoft.com/office/drawing/2014/main" id="{1AEC2DB4-B8BF-8A9F-D14D-C27DF9B6A3BC}"/>
                </a:ext>
              </a:extLst>
            </p:cNvPr>
            <p:cNvSpPr/>
            <p:nvPr/>
          </p:nvSpPr>
          <p:spPr>
            <a:xfrm>
              <a:off x="8426158" y="1028162"/>
              <a:ext cx="155575" cy="1645920"/>
            </a:xfrm>
            <a:custGeom>
              <a:avLst/>
              <a:gdLst/>
              <a:ahLst/>
              <a:cxnLst/>
              <a:rect l="l" t="t" r="r" b="b"/>
              <a:pathLst>
                <a:path w="155575" h="1645920">
                  <a:moveTo>
                    <a:pt x="155524" y="1625409"/>
                  </a:moveTo>
                  <a:lnTo>
                    <a:pt x="0" y="1625409"/>
                  </a:lnTo>
                  <a:lnTo>
                    <a:pt x="0" y="1645920"/>
                  </a:lnTo>
                  <a:lnTo>
                    <a:pt x="155524" y="1645920"/>
                  </a:lnTo>
                  <a:lnTo>
                    <a:pt x="155524" y="1625409"/>
                  </a:lnTo>
                  <a:close/>
                </a:path>
                <a:path w="155575" h="1645920">
                  <a:moveTo>
                    <a:pt x="155524" y="0"/>
                  </a:moveTo>
                  <a:lnTo>
                    <a:pt x="0" y="0"/>
                  </a:lnTo>
                  <a:lnTo>
                    <a:pt x="0" y="20523"/>
                  </a:lnTo>
                  <a:lnTo>
                    <a:pt x="155524" y="20523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58" name="object 56">
            <a:extLst>
              <a:ext uri="{FF2B5EF4-FFF2-40B4-BE49-F238E27FC236}">
                <a16:creationId xmlns:a16="http://schemas.microsoft.com/office/drawing/2014/main" id="{3F907292-D753-097A-7902-2936FEE73D2D}"/>
              </a:ext>
            </a:extLst>
          </p:cNvPr>
          <p:cNvGrpSpPr/>
          <p:nvPr/>
        </p:nvGrpSpPr>
        <p:grpSpPr>
          <a:xfrm>
            <a:off x="10187797" y="3899201"/>
            <a:ext cx="188101" cy="1990029"/>
            <a:chOff x="8426157" y="3224170"/>
            <a:chExt cx="155575" cy="1645920"/>
          </a:xfrm>
        </p:grpSpPr>
        <p:sp>
          <p:nvSpPr>
            <p:cNvPr id="59" name="object 57">
              <a:extLst>
                <a:ext uri="{FF2B5EF4-FFF2-40B4-BE49-F238E27FC236}">
                  <a16:creationId xmlns:a16="http://schemas.microsoft.com/office/drawing/2014/main" id="{BA809B57-3E57-4DC4-492E-66D701D6BCFC}"/>
                </a:ext>
              </a:extLst>
            </p:cNvPr>
            <p:cNvSpPr/>
            <p:nvPr/>
          </p:nvSpPr>
          <p:spPr>
            <a:xfrm>
              <a:off x="8503919" y="323425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h="1626235">
                  <a:moveTo>
                    <a:pt x="0" y="0"/>
                  </a:moveTo>
                  <a:lnTo>
                    <a:pt x="0" y="1625752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60" name="object 58">
              <a:extLst>
                <a:ext uri="{FF2B5EF4-FFF2-40B4-BE49-F238E27FC236}">
                  <a16:creationId xmlns:a16="http://schemas.microsoft.com/office/drawing/2014/main" id="{225ACB19-3FBC-D875-901C-EE940887E33C}"/>
                </a:ext>
              </a:extLst>
            </p:cNvPr>
            <p:cNvSpPr/>
            <p:nvPr/>
          </p:nvSpPr>
          <p:spPr>
            <a:xfrm>
              <a:off x="8426158" y="3224170"/>
              <a:ext cx="155575" cy="1645920"/>
            </a:xfrm>
            <a:custGeom>
              <a:avLst/>
              <a:gdLst/>
              <a:ahLst/>
              <a:cxnLst/>
              <a:rect l="l" t="t" r="r" b="b"/>
              <a:pathLst>
                <a:path w="155575" h="1645920">
                  <a:moveTo>
                    <a:pt x="155524" y="1625396"/>
                  </a:moveTo>
                  <a:lnTo>
                    <a:pt x="0" y="1625396"/>
                  </a:lnTo>
                  <a:lnTo>
                    <a:pt x="0" y="1645920"/>
                  </a:lnTo>
                  <a:lnTo>
                    <a:pt x="155524" y="1645920"/>
                  </a:lnTo>
                  <a:lnTo>
                    <a:pt x="155524" y="1625396"/>
                  </a:lnTo>
                  <a:close/>
                </a:path>
                <a:path w="155575" h="1645920">
                  <a:moveTo>
                    <a:pt x="155524" y="0"/>
                  </a:moveTo>
                  <a:lnTo>
                    <a:pt x="0" y="0"/>
                  </a:lnTo>
                  <a:lnTo>
                    <a:pt x="0" y="20523"/>
                  </a:lnTo>
                  <a:lnTo>
                    <a:pt x="155524" y="20523"/>
                  </a:lnTo>
                  <a:lnTo>
                    <a:pt x="155524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61" name="object 59">
            <a:extLst>
              <a:ext uri="{FF2B5EF4-FFF2-40B4-BE49-F238E27FC236}">
                <a16:creationId xmlns:a16="http://schemas.microsoft.com/office/drawing/2014/main" id="{EA3358D7-3A95-694D-48BC-C498161A076C}"/>
              </a:ext>
            </a:extLst>
          </p:cNvPr>
          <p:cNvSpPr txBox="1"/>
          <p:nvPr/>
        </p:nvSpPr>
        <p:spPr>
          <a:xfrm>
            <a:off x="10421410" y="2064873"/>
            <a:ext cx="932389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2176" b="1" spc="-24" dirty="0">
                <a:latin typeface="Calibri"/>
                <a:cs typeface="Calibri"/>
              </a:rPr>
              <a:t>WHAT?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63" name="object 60">
            <a:extLst>
              <a:ext uri="{FF2B5EF4-FFF2-40B4-BE49-F238E27FC236}">
                <a16:creationId xmlns:a16="http://schemas.microsoft.com/office/drawing/2014/main" id="{A2645ED7-CB71-CC7E-32A7-AE75550D8994}"/>
              </a:ext>
            </a:extLst>
          </p:cNvPr>
          <p:cNvSpPr txBox="1"/>
          <p:nvPr/>
        </p:nvSpPr>
        <p:spPr>
          <a:xfrm>
            <a:off x="10421410" y="4707359"/>
            <a:ext cx="863698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24" dirty="0">
                <a:latin typeface="Calibri"/>
                <a:cs typeface="Calibri"/>
              </a:rPr>
              <a:t>W</a:t>
            </a:r>
            <a:r>
              <a:rPr lang="en-US" sz="2176" b="1" spc="-24" dirty="0">
                <a:latin typeface="Calibri"/>
                <a:cs typeface="Calibri"/>
              </a:rPr>
              <a:t>HO</a:t>
            </a:r>
            <a:r>
              <a:rPr sz="2176" b="1" spc="-24" dirty="0">
                <a:latin typeface="Calibri"/>
                <a:cs typeface="Calibri"/>
              </a:rPr>
              <a:t>?</a:t>
            </a:r>
            <a:endParaRPr sz="2176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1511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A830-B86D-B8ED-C496-A04C69D9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59"/>
            <a:ext cx="10515600" cy="1325563"/>
          </a:xfrm>
        </p:spPr>
        <p:txBody>
          <a:bodyPr/>
          <a:lstStyle/>
          <a:p>
            <a:r>
              <a:rPr lang="en-US" dirty="0"/>
              <a:t>Change file permissions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5A89B-1B0C-2AAD-61D1-D902727D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10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32925F6-5ECF-25CF-8444-46DE93847862}"/>
              </a:ext>
            </a:extLst>
          </p:cNvPr>
          <p:cNvSpPr txBox="1"/>
          <p:nvPr/>
        </p:nvSpPr>
        <p:spPr>
          <a:xfrm>
            <a:off x="2724206" y="1226543"/>
            <a:ext cx="6733239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3144" dirty="0" err="1">
                <a:latin typeface="Courier New"/>
                <a:cs typeface="Courier New"/>
              </a:rPr>
              <a:t>chmod</a:t>
            </a:r>
            <a:r>
              <a:rPr sz="3144" spc="-218" dirty="0">
                <a:latin typeface="Courier New"/>
                <a:cs typeface="Courier New"/>
              </a:rPr>
              <a:t> </a:t>
            </a:r>
            <a:r>
              <a:rPr sz="3144" dirty="0">
                <a:latin typeface="Courier New"/>
                <a:cs typeface="Courier New"/>
              </a:rPr>
              <a:t>&lt;</a:t>
            </a:r>
            <a:r>
              <a:rPr lang="en-US" sz="3144" dirty="0">
                <a:latin typeface="Courier New"/>
                <a:cs typeface="Courier New"/>
              </a:rPr>
              <a:t>permission</a:t>
            </a:r>
            <a:r>
              <a:rPr sz="3144" dirty="0">
                <a:latin typeface="Courier New"/>
                <a:cs typeface="Courier New"/>
              </a:rPr>
              <a:t>&gt;</a:t>
            </a:r>
            <a:r>
              <a:rPr sz="3144" spc="-218" dirty="0">
                <a:latin typeface="Courier New"/>
                <a:cs typeface="Courier New"/>
              </a:rPr>
              <a:t> </a:t>
            </a:r>
            <a:r>
              <a:rPr sz="3144" spc="-12" dirty="0">
                <a:latin typeface="Courier New"/>
                <a:cs typeface="Courier New"/>
              </a:rPr>
              <a:t>&lt;</a:t>
            </a:r>
            <a:r>
              <a:rPr lang="en-US" sz="3144" spc="-12" dirty="0">
                <a:latin typeface="Courier New"/>
                <a:cs typeface="Courier New"/>
              </a:rPr>
              <a:t>file</a:t>
            </a:r>
            <a:r>
              <a:rPr sz="3144" spc="-12" dirty="0">
                <a:latin typeface="Courier New"/>
                <a:cs typeface="Courier New"/>
              </a:rPr>
              <a:t>&gt;</a:t>
            </a:r>
            <a:endParaRPr sz="3144" dirty="0">
              <a:latin typeface="Courier New"/>
              <a:cs typeface="Courier New"/>
            </a:endParaRP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FF5EDA99-2159-85BC-55EF-7E2C222B9B71}"/>
              </a:ext>
            </a:extLst>
          </p:cNvPr>
          <p:cNvGrpSpPr/>
          <p:nvPr/>
        </p:nvGrpSpPr>
        <p:grpSpPr>
          <a:xfrm>
            <a:off x="2370453" y="1795347"/>
            <a:ext cx="3734376" cy="487526"/>
            <a:chOff x="1960562" y="1484107"/>
            <a:chExt cx="3088640" cy="40322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B368A317-5AA2-1704-115F-7A5D5810AC6A}"/>
                </a:ext>
              </a:extLst>
            </p:cNvPr>
            <p:cNvSpPr/>
            <p:nvPr/>
          </p:nvSpPr>
          <p:spPr>
            <a:xfrm>
              <a:off x="2010600" y="1493287"/>
              <a:ext cx="3029585" cy="320675"/>
            </a:xfrm>
            <a:custGeom>
              <a:avLst/>
              <a:gdLst/>
              <a:ahLst/>
              <a:cxnLst/>
              <a:rect l="l" t="t" r="r" b="b"/>
              <a:pathLst>
                <a:path w="3029585" h="320675">
                  <a:moveTo>
                    <a:pt x="3029394" y="0"/>
                  </a:moveTo>
                  <a:lnTo>
                    <a:pt x="3029394" y="196926"/>
                  </a:lnTo>
                  <a:lnTo>
                    <a:pt x="0" y="196926"/>
                  </a:lnTo>
                  <a:lnTo>
                    <a:pt x="0" y="320395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1287531B-791B-433C-5850-BC3893671422}"/>
                </a:ext>
              </a:extLst>
            </p:cNvPr>
            <p:cNvSpPr/>
            <p:nvPr/>
          </p:nvSpPr>
          <p:spPr>
            <a:xfrm>
              <a:off x="1960562" y="180685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9" name="object 7">
            <a:extLst>
              <a:ext uri="{FF2B5EF4-FFF2-40B4-BE49-F238E27FC236}">
                <a16:creationId xmlns:a16="http://schemas.microsoft.com/office/drawing/2014/main" id="{FCB3C179-7766-135C-5BB6-7FB863F771AD}"/>
              </a:ext>
            </a:extLst>
          </p:cNvPr>
          <p:cNvGrpSpPr/>
          <p:nvPr/>
        </p:nvGrpSpPr>
        <p:grpSpPr>
          <a:xfrm>
            <a:off x="1259660" y="3744252"/>
            <a:ext cx="773900" cy="188101"/>
            <a:chOff x="1041844" y="3096014"/>
            <a:chExt cx="640080" cy="155575"/>
          </a:xfrm>
        </p:grpSpPr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BE80E358-7489-0B59-A344-0B61863B6CCE}"/>
                </a:ext>
              </a:extLst>
            </p:cNvPr>
            <p:cNvSpPr/>
            <p:nvPr/>
          </p:nvSpPr>
          <p:spPr>
            <a:xfrm>
              <a:off x="1051915" y="317376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4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72347279-1C3C-5FD5-8CE4-45A5CB90CF9F}"/>
                </a:ext>
              </a:extLst>
            </p:cNvPr>
            <p:cNvSpPr/>
            <p:nvPr/>
          </p:nvSpPr>
          <p:spPr>
            <a:xfrm>
              <a:off x="1041844" y="3096014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10" y="155511"/>
                  </a:lnTo>
                  <a:lnTo>
                    <a:pt x="20510" y="0"/>
                  </a:lnTo>
                  <a:close/>
                </a:path>
                <a:path w="640080" h="155575">
                  <a:moveTo>
                    <a:pt x="640080" y="0"/>
                  </a:moveTo>
                  <a:lnTo>
                    <a:pt x="619544" y="0"/>
                  </a:lnTo>
                  <a:lnTo>
                    <a:pt x="619544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2" name="object 10">
            <a:extLst>
              <a:ext uri="{FF2B5EF4-FFF2-40B4-BE49-F238E27FC236}">
                <a16:creationId xmlns:a16="http://schemas.microsoft.com/office/drawing/2014/main" id="{065023A8-B441-EB98-E5A2-4850FE6415E7}"/>
              </a:ext>
            </a:extLst>
          </p:cNvPr>
          <p:cNvGrpSpPr/>
          <p:nvPr/>
        </p:nvGrpSpPr>
        <p:grpSpPr>
          <a:xfrm>
            <a:off x="2130191" y="3744252"/>
            <a:ext cx="773900" cy="188101"/>
            <a:chOff x="1761845" y="3096014"/>
            <a:chExt cx="640080" cy="155575"/>
          </a:xfrm>
        </p:grpSpPr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4C1A937E-6D31-9E61-788C-296E7B1F32EA}"/>
                </a:ext>
              </a:extLst>
            </p:cNvPr>
            <p:cNvSpPr/>
            <p:nvPr/>
          </p:nvSpPr>
          <p:spPr>
            <a:xfrm>
              <a:off x="1771916" y="317376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4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67702F5A-27A4-8792-3508-BE80D260E556}"/>
                </a:ext>
              </a:extLst>
            </p:cNvPr>
            <p:cNvSpPr/>
            <p:nvPr/>
          </p:nvSpPr>
          <p:spPr>
            <a:xfrm>
              <a:off x="1761845" y="3096014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80" h="155575">
                  <a:moveTo>
                    <a:pt x="20510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10" y="155511"/>
                  </a:lnTo>
                  <a:lnTo>
                    <a:pt x="20510" y="0"/>
                  </a:lnTo>
                  <a:close/>
                </a:path>
                <a:path w="640080" h="155575">
                  <a:moveTo>
                    <a:pt x="640080" y="0"/>
                  </a:moveTo>
                  <a:lnTo>
                    <a:pt x="619556" y="0"/>
                  </a:lnTo>
                  <a:lnTo>
                    <a:pt x="619556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BCE745B1-1336-A6B3-DA97-0778A45D1E7A}"/>
              </a:ext>
            </a:extLst>
          </p:cNvPr>
          <p:cNvGrpSpPr/>
          <p:nvPr/>
        </p:nvGrpSpPr>
        <p:grpSpPr>
          <a:xfrm>
            <a:off x="3000705" y="3744252"/>
            <a:ext cx="773900" cy="188101"/>
            <a:chOff x="2481833" y="3096014"/>
            <a:chExt cx="640080" cy="155575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20D8077E-476D-A0FF-01B1-6AF580B3C511}"/>
                </a:ext>
              </a:extLst>
            </p:cNvPr>
            <p:cNvSpPr/>
            <p:nvPr/>
          </p:nvSpPr>
          <p:spPr>
            <a:xfrm>
              <a:off x="2491917" y="3173764"/>
              <a:ext cx="620395" cy="0"/>
            </a:xfrm>
            <a:custGeom>
              <a:avLst/>
              <a:gdLst/>
              <a:ahLst/>
              <a:cxnLst/>
              <a:rect l="l" t="t" r="r" b="b"/>
              <a:pathLst>
                <a:path w="620394">
                  <a:moveTo>
                    <a:pt x="0" y="0"/>
                  </a:moveTo>
                  <a:lnTo>
                    <a:pt x="619925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E176B459-A219-1973-E0EF-4A542AEBFFDE}"/>
                </a:ext>
              </a:extLst>
            </p:cNvPr>
            <p:cNvSpPr/>
            <p:nvPr/>
          </p:nvSpPr>
          <p:spPr>
            <a:xfrm>
              <a:off x="2481834" y="3096014"/>
              <a:ext cx="640080" cy="155575"/>
            </a:xfrm>
            <a:custGeom>
              <a:avLst/>
              <a:gdLst/>
              <a:ahLst/>
              <a:cxnLst/>
              <a:rect l="l" t="t" r="r" b="b"/>
              <a:pathLst>
                <a:path w="640080" h="155575">
                  <a:moveTo>
                    <a:pt x="20523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23" y="155511"/>
                  </a:lnTo>
                  <a:lnTo>
                    <a:pt x="20523" y="0"/>
                  </a:lnTo>
                  <a:close/>
                </a:path>
                <a:path w="640080" h="155575">
                  <a:moveTo>
                    <a:pt x="640080" y="0"/>
                  </a:moveTo>
                  <a:lnTo>
                    <a:pt x="619569" y="0"/>
                  </a:lnTo>
                  <a:lnTo>
                    <a:pt x="619569" y="155511"/>
                  </a:lnTo>
                  <a:lnTo>
                    <a:pt x="640080" y="155511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86384339-4F3F-B365-FE5D-9F97F541C4F9}"/>
              </a:ext>
            </a:extLst>
          </p:cNvPr>
          <p:cNvGrpSpPr/>
          <p:nvPr/>
        </p:nvGrpSpPr>
        <p:grpSpPr>
          <a:xfrm>
            <a:off x="1264006" y="3178399"/>
            <a:ext cx="2542815" cy="188101"/>
            <a:chOff x="1045438" y="2628007"/>
            <a:chExt cx="2103120" cy="155575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5E856A84-980D-CF3D-0837-38F559510834}"/>
                </a:ext>
              </a:extLst>
            </p:cNvPr>
            <p:cNvSpPr/>
            <p:nvPr/>
          </p:nvSpPr>
          <p:spPr>
            <a:xfrm>
              <a:off x="1055522" y="2705769"/>
              <a:ext cx="2083435" cy="0"/>
            </a:xfrm>
            <a:custGeom>
              <a:avLst/>
              <a:gdLst/>
              <a:ahLst/>
              <a:cxnLst/>
              <a:rect l="l" t="t" r="r" b="b"/>
              <a:pathLst>
                <a:path w="2083435">
                  <a:moveTo>
                    <a:pt x="0" y="0"/>
                  </a:moveTo>
                  <a:lnTo>
                    <a:pt x="2082952" y="0"/>
                  </a:lnTo>
                </a:path>
              </a:pathLst>
            </a:custGeom>
            <a:ln w="18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9B5347D1-00D8-332E-DD95-B89E2D8DFE1F}"/>
                </a:ext>
              </a:extLst>
            </p:cNvPr>
            <p:cNvSpPr/>
            <p:nvPr/>
          </p:nvSpPr>
          <p:spPr>
            <a:xfrm>
              <a:off x="1045438" y="2628007"/>
              <a:ext cx="2103120" cy="155575"/>
            </a:xfrm>
            <a:custGeom>
              <a:avLst/>
              <a:gdLst/>
              <a:ahLst/>
              <a:cxnLst/>
              <a:rect l="l" t="t" r="r" b="b"/>
              <a:pathLst>
                <a:path w="210312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2103120" h="155575">
                  <a:moveTo>
                    <a:pt x="2103120" y="0"/>
                  </a:moveTo>
                  <a:lnTo>
                    <a:pt x="2082596" y="0"/>
                  </a:lnTo>
                  <a:lnTo>
                    <a:pt x="2082596" y="155524"/>
                  </a:lnTo>
                  <a:lnTo>
                    <a:pt x="2103120" y="155524"/>
                  </a:lnTo>
                  <a:lnTo>
                    <a:pt x="210312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C3EF457F-817D-720F-6F9C-0CD4E1938CB2}"/>
              </a:ext>
            </a:extLst>
          </p:cNvPr>
          <p:cNvSpPr txBox="1"/>
          <p:nvPr/>
        </p:nvSpPr>
        <p:spPr>
          <a:xfrm>
            <a:off x="3261313" y="3807669"/>
            <a:ext cx="19654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o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6F76F916-86D5-0AD3-16C0-FDCCCC76328A}"/>
              </a:ext>
            </a:extLst>
          </p:cNvPr>
          <p:cNvSpPr txBox="1"/>
          <p:nvPr/>
        </p:nvSpPr>
        <p:spPr>
          <a:xfrm>
            <a:off x="910454" y="2328645"/>
            <a:ext cx="2892913" cy="143833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92712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[ugoa][-</a:t>
            </a:r>
            <a:r>
              <a:rPr sz="2176" spc="-12" dirty="0">
                <a:latin typeface="Courier New"/>
                <a:cs typeface="Courier New"/>
              </a:rPr>
              <a:t>+=][rwx]</a:t>
            </a:r>
            <a:endParaRPr sz="2176">
              <a:latin typeface="Courier New"/>
              <a:cs typeface="Courier New"/>
            </a:endParaRPr>
          </a:p>
          <a:p>
            <a:pPr marL="248760" algn="ctr">
              <a:spcBef>
                <a:spcPts val="1838"/>
              </a:spcBef>
            </a:pP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a</a:t>
            </a:r>
            <a:endParaRPr sz="2176">
              <a:latin typeface="Courier New"/>
              <a:cs typeface="Courier New"/>
            </a:endParaRPr>
          </a:p>
          <a:p>
            <a:pPr marL="15356">
              <a:spcBef>
                <a:spcPts val="254"/>
              </a:spcBef>
            </a:pP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75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w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x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w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r</a:t>
            </a:r>
            <a:r>
              <a:rPr sz="3144" spc="-1469" dirty="0">
                <a:latin typeface="Courier New"/>
                <a:cs typeface="Courier New"/>
              </a:rPr>
              <a:t> </a:t>
            </a:r>
            <a:r>
              <a:rPr sz="3144" spc="-30" dirty="0">
                <a:latin typeface="Courier New"/>
                <a:cs typeface="Courier New"/>
              </a:rPr>
              <a:t>-</a:t>
            </a:r>
            <a:r>
              <a:rPr sz="3144" spc="-1475" dirty="0">
                <a:latin typeface="Courier New"/>
                <a:cs typeface="Courier New"/>
              </a:rPr>
              <a:t> </a:t>
            </a:r>
            <a:r>
              <a:rPr sz="3144" spc="-60" dirty="0">
                <a:latin typeface="Courier New"/>
                <a:cs typeface="Courier New"/>
              </a:rPr>
              <a:t>-</a:t>
            </a:r>
            <a:endParaRPr sz="3144">
              <a:latin typeface="Courier New"/>
              <a:cs typeface="Courier New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0B8BC9CF-F5BB-F6A5-1611-FBBD5F240FED}"/>
              </a:ext>
            </a:extLst>
          </p:cNvPr>
          <p:cNvSpPr txBox="1"/>
          <p:nvPr/>
        </p:nvSpPr>
        <p:spPr>
          <a:xfrm>
            <a:off x="1332660" y="3805933"/>
            <a:ext cx="1867094" cy="197181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245689">
              <a:spcBef>
                <a:spcPts val="121"/>
              </a:spcBef>
              <a:tabLst>
                <a:tab pos="1094084" algn="l"/>
              </a:tabLst>
            </a:pP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u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	</a:t>
            </a: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g</a:t>
            </a:r>
            <a:endParaRPr sz="2176" dirty="0">
              <a:latin typeface="Courier New"/>
              <a:cs typeface="Courier New"/>
            </a:endParaRPr>
          </a:p>
          <a:p>
            <a:pPr marL="15356">
              <a:spcBef>
                <a:spcPts val="1608"/>
              </a:spcBef>
            </a:pPr>
            <a:r>
              <a:rPr lang="en-US" sz="2176" spc="-12" dirty="0">
                <a:latin typeface="Calibri"/>
                <a:cs typeface="Calibri"/>
              </a:rPr>
              <a:t>Permissions</a:t>
            </a:r>
            <a:r>
              <a:rPr sz="2176" spc="-12" dirty="0">
                <a:latin typeface="Calibri"/>
                <a:cs typeface="Calibri"/>
              </a:rPr>
              <a:t>...</a:t>
            </a:r>
            <a:endParaRPr sz="2176" dirty="0">
              <a:latin typeface="Calibri"/>
              <a:cs typeface="Calibri"/>
            </a:endParaRPr>
          </a:p>
          <a:p>
            <a:pPr marL="15356">
              <a:spcBef>
                <a:spcPts val="230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852" dirty="0">
                <a:latin typeface="Courier New"/>
                <a:cs typeface="Courier New"/>
              </a:rPr>
              <a:t> </a:t>
            </a:r>
            <a:r>
              <a:rPr sz="2176" spc="-284" dirty="0">
                <a:latin typeface="Calibri"/>
                <a:cs typeface="Calibri"/>
              </a:rPr>
              <a:t>→</a:t>
            </a:r>
            <a:r>
              <a:rPr sz="2176" spc="-24" dirty="0">
                <a:latin typeface="Calibri"/>
                <a:cs typeface="Calibri"/>
              </a:rPr>
              <a:t> </a:t>
            </a:r>
            <a:r>
              <a:rPr lang="en-US" sz="2176" spc="-12" dirty="0">
                <a:latin typeface="Calibri"/>
                <a:cs typeface="Calibri"/>
              </a:rPr>
              <a:t>remove</a:t>
            </a:r>
            <a:endParaRPr sz="2176" dirty="0">
              <a:latin typeface="Calibri"/>
              <a:cs typeface="Calibri"/>
            </a:endParaRPr>
          </a:p>
          <a:p>
            <a:pPr marL="15356">
              <a:spcBef>
                <a:spcPts val="218"/>
              </a:spcBef>
            </a:pPr>
            <a:r>
              <a:rPr sz="2176" dirty="0">
                <a:latin typeface="Courier New"/>
                <a:cs typeface="Courier New"/>
              </a:rPr>
              <a:t>+</a:t>
            </a:r>
            <a:r>
              <a:rPr sz="2176" spc="-852" dirty="0">
                <a:latin typeface="Courier New"/>
                <a:cs typeface="Courier New"/>
              </a:rPr>
              <a:t> </a:t>
            </a:r>
            <a:r>
              <a:rPr sz="2176" spc="-284" dirty="0">
                <a:latin typeface="Calibri"/>
                <a:cs typeface="Calibri"/>
              </a:rPr>
              <a:t>→</a:t>
            </a:r>
            <a:r>
              <a:rPr sz="2176" spc="-24" dirty="0">
                <a:latin typeface="Calibri"/>
                <a:cs typeface="Calibri"/>
              </a:rPr>
              <a:t> </a:t>
            </a:r>
            <a:r>
              <a:rPr lang="en-US" sz="2176" spc="-24" dirty="0">
                <a:latin typeface="Calibri"/>
                <a:cs typeface="Calibri"/>
              </a:rPr>
              <a:t>add</a:t>
            </a:r>
            <a:endParaRPr sz="2176" dirty="0">
              <a:latin typeface="Calibri"/>
              <a:cs typeface="Calibri"/>
            </a:endParaRPr>
          </a:p>
          <a:p>
            <a:pPr marL="15356">
              <a:spcBef>
                <a:spcPts val="218"/>
              </a:spcBef>
            </a:pPr>
            <a:r>
              <a:rPr sz="2176" dirty="0">
                <a:latin typeface="Courier New"/>
                <a:cs typeface="Courier New"/>
              </a:rPr>
              <a:t>=</a:t>
            </a:r>
            <a:r>
              <a:rPr sz="2176" spc="-852" dirty="0">
                <a:latin typeface="Courier New"/>
                <a:cs typeface="Courier New"/>
              </a:rPr>
              <a:t> </a:t>
            </a:r>
            <a:r>
              <a:rPr sz="2176" spc="-284" dirty="0">
                <a:latin typeface="Calibri"/>
                <a:cs typeface="Calibri"/>
              </a:rPr>
              <a:t>→</a:t>
            </a:r>
            <a:r>
              <a:rPr sz="2176" spc="-24" dirty="0">
                <a:latin typeface="Calibri"/>
                <a:cs typeface="Calibri"/>
              </a:rPr>
              <a:t> </a:t>
            </a:r>
            <a:r>
              <a:rPr lang="en-US" sz="2176" spc="-12" dirty="0">
                <a:latin typeface="Calibri"/>
                <a:cs typeface="Calibri"/>
              </a:rPr>
              <a:t>set equal to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C529F0C8-C6AF-9D80-5685-92B7440E17EF}"/>
              </a:ext>
            </a:extLst>
          </p:cNvPr>
          <p:cNvSpPr txBox="1"/>
          <p:nvPr/>
        </p:nvSpPr>
        <p:spPr>
          <a:xfrm>
            <a:off x="7203989" y="2439202"/>
            <a:ext cx="1187040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2176" spc="-12" dirty="0">
                <a:latin typeface="Calibri"/>
                <a:cs typeface="Calibri"/>
              </a:rPr>
              <a:t>Example</a:t>
            </a:r>
            <a:r>
              <a:rPr sz="2176" spc="-12" dirty="0">
                <a:latin typeface="Calibri"/>
                <a:cs typeface="Calibri"/>
              </a:rPr>
              <a:t>: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CB3FF38E-C1A1-480F-5D6B-168D9999379C}"/>
              </a:ext>
            </a:extLst>
          </p:cNvPr>
          <p:cNvSpPr txBox="1"/>
          <p:nvPr/>
        </p:nvSpPr>
        <p:spPr>
          <a:xfrm>
            <a:off x="8803099" y="2413082"/>
            <a:ext cx="2157401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spc="-60" dirty="0">
                <a:latin typeface="Courier New"/>
                <a:cs typeface="Courier New"/>
              </a:rPr>
              <a:t>-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EA694018-C747-A568-B10F-7F93AACBABD5}"/>
              </a:ext>
            </a:extLst>
          </p:cNvPr>
          <p:cNvSpPr/>
          <p:nvPr/>
        </p:nvSpPr>
        <p:spPr>
          <a:xfrm>
            <a:off x="10281387" y="3948813"/>
            <a:ext cx="704802" cy="336278"/>
          </a:xfrm>
          <a:custGeom>
            <a:avLst/>
            <a:gdLst/>
            <a:ahLst/>
            <a:cxnLst/>
            <a:rect l="l" t="t" r="r" b="b"/>
            <a:pathLst>
              <a:path w="582929" h="278129">
                <a:moveTo>
                  <a:pt x="582841" y="0"/>
                </a:moveTo>
                <a:lnTo>
                  <a:pt x="0" y="0"/>
                </a:lnTo>
                <a:lnTo>
                  <a:pt x="0" y="277926"/>
                </a:lnTo>
                <a:lnTo>
                  <a:pt x="291592" y="277926"/>
                </a:lnTo>
                <a:lnTo>
                  <a:pt x="582841" y="277926"/>
                </a:lnTo>
                <a:lnTo>
                  <a:pt x="582841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1C73A256-4659-440C-FF05-25D01E42818F}"/>
              </a:ext>
            </a:extLst>
          </p:cNvPr>
          <p:cNvSpPr txBox="1"/>
          <p:nvPr/>
        </p:nvSpPr>
        <p:spPr>
          <a:xfrm>
            <a:off x="8803100" y="3899508"/>
            <a:ext cx="215893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883" dirty="0"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w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D9A426EC-0ECF-CEA7-8FA2-0C579D86AC82}"/>
              </a:ext>
            </a:extLst>
          </p:cNvPr>
          <p:cNvSpPr txBox="1"/>
          <p:nvPr/>
        </p:nvSpPr>
        <p:spPr>
          <a:xfrm>
            <a:off x="9081243" y="3180886"/>
            <a:ext cx="1689068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chmod</a:t>
            </a:r>
            <a:r>
              <a:rPr sz="2176" spc="-6" dirty="0">
                <a:latin typeface="Courier New"/>
                <a:cs typeface="Courier New"/>
              </a:rPr>
              <a:t> </a:t>
            </a:r>
            <a:r>
              <a:rPr sz="2176" spc="-24" dirty="0">
                <a:latin typeface="Courier New"/>
                <a:cs typeface="Courier New"/>
              </a:rPr>
              <a:t>o+wx</a:t>
            </a:r>
            <a:endParaRPr sz="2176" dirty="0">
              <a:latin typeface="Courier New"/>
              <a:cs typeface="Courier New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9276797F-76B9-2805-B5FC-3856FF9D2968}"/>
              </a:ext>
            </a:extLst>
          </p:cNvPr>
          <p:cNvSpPr txBox="1"/>
          <p:nvPr/>
        </p:nvSpPr>
        <p:spPr>
          <a:xfrm>
            <a:off x="9163930" y="4667312"/>
            <a:ext cx="152323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chmod</a:t>
            </a:r>
            <a:r>
              <a:rPr sz="2176" spc="-6" dirty="0">
                <a:latin typeface="Courier New"/>
                <a:cs typeface="Courier New"/>
              </a:rPr>
              <a:t> </a:t>
            </a:r>
            <a:r>
              <a:rPr sz="2176" spc="-30" dirty="0">
                <a:latin typeface="Courier New"/>
                <a:cs typeface="Courier New"/>
              </a:rPr>
              <a:t>g=x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6B213E21-B959-097A-6DF1-FD3BBE832CDE}"/>
              </a:ext>
            </a:extLst>
          </p:cNvPr>
          <p:cNvSpPr txBox="1"/>
          <p:nvPr/>
        </p:nvSpPr>
        <p:spPr>
          <a:xfrm>
            <a:off x="8803100" y="5384628"/>
            <a:ext cx="215893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889" dirty="0"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-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-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x</a:t>
            </a:r>
            <a:r>
              <a:rPr sz="2176" spc="-895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895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spc="-60" dirty="0"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</p:txBody>
      </p:sp>
      <p:grpSp>
        <p:nvGrpSpPr>
          <p:cNvPr id="31" name="object 29">
            <a:extLst>
              <a:ext uri="{FF2B5EF4-FFF2-40B4-BE49-F238E27FC236}">
                <a16:creationId xmlns:a16="http://schemas.microsoft.com/office/drawing/2014/main" id="{DAF05DE1-0F35-84BD-3B75-F339D223C73B}"/>
              </a:ext>
            </a:extLst>
          </p:cNvPr>
          <p:cNvGrpSpPr/>
          <p:nvPr/>
        </p:nvGrpSpPr>
        <p:grpSpPr>
          <a:xfrm>
            <a:off x="9865263" y="2885898"/>
            <a:ext cx="122074" cy="249521"/>
            <a:chOff x="8159394" y="2386084"/>
            <a:chExt cx="100965" cy="206375"/>
          </a:xfrm>
        </p:grpSpPr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080700D1-B4C3-96AA-6272-B00EB90163D2}"/>
                </a:ext>
              </a:extLst>
            </p:cNvPr>
            <p:cNvSpPr/>
            <p:nvPr/>
          </p:nvSpPr>
          <p:spPr>
            <a:xfrm>
              <a:off x="8209444" y="2386084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86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B0D7601D-7B72-77C2-1532-8DDBC47CB65D}"/>
                </a:ext>
              </a:extLst>
            </p:cNvPr>
            <p:cNvSpPr/>
            <p:nvPr/>
          </p:nvSpPr>
          <p:spPr>
            <a:xfrm>
              <a:off x="8159394" y="2511725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4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34" name="object 32">
            <a:extLst>
              <a:ext uri="{FF2B5EF4-FFF2-40B4-BE49-F238E27FC236}">
                <a16:creationId xmlns:a16="http://schemas.microsoft.com/office/drawing/2014/main" id="{E6F2C7B2-D1BE-63D9-04DA-145CE1817CDC}"/>
              </a:ext>
            </a:extLst>
          </p:cNvPr>
          <p:cNvGrpSpPr/>
          <p:nvPr/>
        </p:nvGrpSpPr>
        <p:grpSpPr>
          <a:xfrm>
            <a:off x="9865263" y="3603660"/>
            <a:ext cx="122074" cy="249521"/>
            <a:chOff x="8159394" y="2979733"/>
            <a:chExt cx="100965" cy="206375"/>
          </a:xfrm>
        </p:grpSpPr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1284701C-0C70-4D60-2F2C-147359C1AF23}"/>
                </a:ext>
              </a:extLst>
            </p:cNvPr>
            <p:cNvSpPr/>
            <p:nvPr/>
          </p:nvSpPr>
          <p:spPr>
            <a:xfrm>
              <a:off x="8209444" y="2979733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2829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CFF8839D-0744-B826-EF73-F0DE7216617C}"/>
                </a:ext>
              </a:extLst>
            </p:cNvPr>
            <p:cNvSpPr/>
            <p:nvPr/>
          </p:nvSpPr>
          <p:spPr>
            <a:xfrm>
              <a:off x="8159394" y="310573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4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37" name="object 35">
            <a:extLst>
              <a:ext uri="{FF2B5EF4-FFF2-40B4-BE49-F238E27FC236}">
                <a16:creationId xmlns:a16="http://schemas.microsoft.com/office/drawing/2014/main" id="{5C596ACE-960C-224D-8A77-7668F69D3D9A}"/>
              </a:ext>
            </a:extLst>
          </p:cNvPr>
          <p:cNvGrpSpPr/>
          <p:nvPr/>
        </p:nvGrpSpPr>
        <p:grpSpPr>
          <a:xfrm>
            <a:off x="9865263" y="4371464"/>
            <a:ext cx="122074" cy="249521"/>
            <a:chOff x="8159394" y="3614771"/>
            <a:chExt cx="100965" cy="206375"/>
          </a:xfrm>
        </p:grpSpPr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1B0D1C4A-F06C-6939-3F9B-929AE5AC2F16}"/>
                </a:ext>
              </a:extLst>
            </p:cNvPr>
            <p:cNvSpPr/>
            <p:nvPr/>
          </p:nvSpPr>
          <p:spPr>
            <a:xfrm>
              <a:off x="8209444" y="3614771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73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C33154F8-45D4-E598-1763-662456E9109A}"/>
                </a:ext>
              </a:extLst>
            </p:cNvPr>
            <p:cNvSpPr/>
            <p:nvPr/>
          </p:nvSpPr>
          <p:spPr>
            <a:xfrm>
              <a:off x="8159394" y="3740412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40" name="object 38">
            <a:extLst>
              <a:ext uri="{FF2B5EF4-FFF2-40B4-BE49-F238E27FC236}">
                <a16:creationId xmlns:a16="http://schemas.microsoft.com/office/drawing/2014/main" id="{A1AA4D7D-0A0F-49A5-C944-D31BA5269E1A}"/>
              </a:ext>
            </a:extLst>
          </p:cNvPr>
          <p:cNvGrpSpPr/>
          <p:nvPr/>
        </p:nvGrpSpPr>
        <p:grpSpPr>
          <a:xfrm>
            <a:off x="9865263" y="5089211"/>
            <a:ext cx="122074" cy="249521"/>
            <a:chOff x="8159394" y="4208407"/>
            <a:chExt cx="100965" cy="206375"/>
          </a:xfrm>
        </p:grpSpPr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A6BA2D8A-4E78-A422-F862-12DC013CEBF4}"/>
                </a:ext>
              </a:extLst>
            </p:cNvPr>
            <p:cNvSpPr/>
            <p:nvPr/>
          </p:nvSpPr>
          <p:spPr>
            <a:xfrm>
              <a:off x="8209444" y="4208407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86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9C5ED4FC-D6C7-BCDF-6A79-A6890939C208}"/>
                </a:ext>
              </a:extLst>
            </p:cNvPr>
            <p:cNvSpPr/>
            <p:nvPr/>
          </p:nvSpPr>
          <p:spPr>
            <a:xfrm>
              <a:off x="8159394" y="4334048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43" name="object 41">
            <a:extLst>
              <a:ext uri="{FF2B5EF4-FFF2-40B4-BE49-F238E27FC236}">
                <a16:creationId xmlns:a16="http://schemas.microsoft.com/office/drawing/2014/main" id="{A925119B-CEA0-BECF-05D4-38DC71C6A5B9}"/>
              </a:ext>
            </a:extLst>
          </p:cNvPr>
          <p:cNvSpPr/>
          <p:nvPr/>
        </p:nvSpPr>
        <p:spPr>
          <a:xfrm>
            <a:off x="9639803" y="5428713"/>
            <a:ext cx="704802" cy="336278"/>
          </a:xfrm>
          <a:custGeom>
            <a:avLst/>
            <a:gdLst/>
            <a:ahLst/>
            <a:cxnLst/>
            <a:rect l="l" t="t" r="r" b="b"/>
            <a:pathLst>
              <a:path w="582929" h="278129">
                <a:moveTo>
                  <a:pt x="582841" y="0"/>
                </a:moveTo>
                <a:lnTo>
                  <a:pt x="0" y="0"/>
                </a:lnTo>
                <a:lnTo>
                  <a:pt x="0" y="277926"/>
                </a:lnTo>
                <a:lnTo>
                  <a:pt x="291604" y="277926"/>
                </a:lnTo>
                <a:lnTo>
                  <a:pt x="582841" y="277926"/>
                </a:lnTo>
                <a:lnTo>
                  <a:pt x="582841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4DF6638D-DE40-227C-1D4D-F522908BE0A6}"/>
              </a:ext>
            </a:extLst>
          </p:cNvPr>
          <p:cNvSpPr/>
          <p:nvPr/>
        </p:nvSpPr>
        <p:spPr>
          <a:xfrm>
            <a:off x="10059828" y="3224541"/>
            <a:ext cx="210366" cy="336278"/>
          </a:xfrm>
          <a:custGeom>
            <a:avLst/>
            <a:gdLst/>
            <a:ahLst/>
            <a:cxnLst/>
            <a:rect l="l" t="t" r="r" b="b"/>
            <a:pathLst>
              <a:path w="173990" h="278130">
                <a:moveTo>
                  <a:pt x="173888" y="0"/>
                </a:moveTo>
                <a:lnTo>
                  <a:pt x="0" y="0"/>
                </a:lnTo>
                <a:lnTo>
                  <a:pt x="0" y="277914"/>
                </a:lnTo>
                <a:lnTo>
                  <a:pt x="87122" y="277914"/>
                </a:lnTo>
                <a:lnTo>
                  <a:pt x="173888" y="277914"/>
                </a:lnTo>
                <a:lnTo>
                  <a:pt x="173888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CB3C92A7-A8E1-FB81-C7C8-58B1054C51CB}"/>
              </a:ext>
            </a:extLst>
          </p:cNvPr>
          <p:cNvSpPr/>
          <p:nvPr/>
        </p:nvSpPr>
        <p:spPr>
          <a:xfrm>
            <a:off x="10142960" y="4732296"/>
            <a:ext cx="210366" cy="336278"/>
          </a:xfrm>
          <a:custGeom>
            <a:avLst/>
            <a:gdLst/>
            <a:ahLst/>
            <a:cxnLst/>
            <a:rect l="l" t="t" r="r" b="b"/>
            <a:pathLst>
              <a:path w="173990" h="278129">
                <a:moveTo>
                  <a:pt x="173888" y="0"/>
                </a:moveTo>
                <a:lnTo>
                  <a:pt x="0" y="0"/>
                </a:lnTo>
                <a:lnTo>
                  <a:pt x="0" y="277914"/>
                </a:lnTo>
                <a:lnTo>
                  <a:pt x="87122" y="277914"/>
                </a:lnTo>
                <a:lnTo>
                  <a:pt x="173888" y="277914"/>
                </a:lnTo>
                <a:lnTo>
                  <a:pt x="173888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</p:spTree>
    <p:extLst>
      <p:ext uri="{BB962C8B-B14F-4D97-AF65-F5344CB8AC3E}">
        <p14:creationId xmlns:p14="http://schemas.microsoft.com/office/powerpoint/2010/main" val="414070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23A2AD-0013-1269-F83C-3371A03F8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BA2F-556A-CD00-65FA-891AC84C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59"/>
            <a:ext cx="10515600" cy="1325563"/>
          </a:xfrm>
        </p:spPr>
        <p:txBody>
          <a:bodyPr/>
          <a:lstStyle/>
          <a:p>
            <a:r>
              <a:rPr lang="en-US" dirty="0"/>
              <a:t>Change file permissions – Octal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76902-E705-68DF-0FD0-99EBCDA0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11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179DA67-D4E9-B8C6-1558-E2CEC9AB5CE4}"/>
              </a:ext>
            </a:extLst>
          </p:cNvPr>
          <p:cNvSpPr txBox="1"/>
          <p:nvPr/>
        </p:nvSpPr>
        <p:spPr>
          <a:xfrm>
            <a:off x="2724206" y="1226543"/>
            <a:ext cx="6733239" cy="49935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3144" dirty="0" err="1">
                <a:latin typeface="Courier New"/>
                <a:cs typeface="Courier New"/>
              </a:rPr>
              <a:t>chmod</a:t>
            </a:r>
            <a:r>
              <a:rPr sz="3144" spc="-218" dirty="0">
                <a:latin typeface="Courier New"/>
                <a:cs typeface="Courier New"/>
              </a:rPr>
              <a:t> </a:t>
            </a:r>
            <a:r>
              <a:rPr sz="3144" dirty="0">
                <a:latin typeface="Courier New"/>
                <a:cs typeface="Courier New"/>
              </a:rPr>
              <a:t>&lt;</a:t>
            </a:r>
            <a:r>
              <a:rPr lang="en-US" sz="3144" dirty="0">
                <a:latin typeface="Courier New"/>
                <a:cs typeface="Courier New"/>
              </a:rPr>
              <a:t>permission</a:t>
            </a:r>
            <a:r>
              <a:rPr sz="3144" dirty="0">
                <a:latin typeface="Courier New"/>
                <a:cs typeface="Courier New"/>
              </a:rPr>
              <a:t>&gt;</a:t>
            </a:r>
            <a:r>
              <a:rPr sz="3144" spc="-218" dirty="0">
                <a:latin typeface="Courier New"/>
                <a:cs typeface="Courier New"/>
              </a:rPr>
              <a:t> </a:t>
            </a:r>
            <a:r>
              <a:rPr sz="3144" spc="-12" dirty="0">
                <a:latin typeface="Courier New"/>
                <a:cs typeface="Courier New"/>
              </a:rPr>
              <a:t>&lt;</a:t>
            </a:r>
            <a:r>
              <a:rPr lang="en-US" sz="3144" spc="-12" dirty="0">
                <a:latin typeface="Courier New"/>
                <a:cs typeface="Courier New"/>
              </a:rPr>
              <a:t>file</a:t>
            </a:r>
            <a:r>
              <a:rPr sz="3144" spc="-12" dirty="0">
                <a:latin typeface="Courier New"/>
                <a:cs typeface="Courier New"/>
              </a:rPr>
              <a:t>&gt;</a:t>
            </a:r>
            <a:endParaRPr sz="3144" dirty="0">
              <a:latin typeface="Courier New"/>
              <a:cs typeface="Courier New"/>
            </a:endParaRP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498EE826-7634-27F4-B08F-808774FAA80D}"/>
              </a:ext>
            </a:extLst>
          </p:cNvPr>
          <p:cNvGrpSpPr/>
          <p:nvPr/>
        </p:nvGrpSpPr>
        <p:grpSpPr>
          <a:xfrm>
            <a:off x="2370453" y="1795347"/>
            <a:ext cx="3734376" cy="487526"/>
            <a:chOff x="1960562" y="1484107"/>
            <a:chExt cx="3088640" cy="40322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4F8296BF-24A0-B005-FE4D-AFB6E5218BD2}"/>
                </a:ext>
              </a:extLst>
            </p:cNvPr>
            <p:cNvSpPr/>
            <p:nvPr/>
          </p:nvSpPr>
          <p:spPr>
            <a:xfrm>
              <a:off x="2010600" y="1493287"/>
              <a:ext cx="3029585" cy="320675"/>
            </a:xfrm>
            <a:custGeom>
              <a:avLst/>
              <a:gdLst/>
              <a:ahLst/>
              <a:cxnLst/>
              <a:rect l="l" t="t" r="r" b="b"/>
              <a:pathLst>
                <a:path w="3029585" h="320675">
                  <a:moveTo>
                    <a:pt x="3029394" y="0"/>
                  </a:moveTo>
                  <a:lnTo>
                    <a:pt x="3029394" y="196926"/>
                  </a:lnTo>
                  <a:lnTo>
                    <a:pt x="0" y="196926"/>
                  </a:lnTo>
                  <a:lnTo>
                    <a:pt x="0" y="320395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03B341DA-6D86-0B52-4CFA-8C2213BA68E8}"/>
                </a:ext>
              </a:extLst>
            </p:cNvPr>
            <p:cNvSpPr/>
            <p:nvPr/>
          </p:nvSpPr>
          <p:spPr>
            <a:xfrm>
              <a:off x="1960562" y="180685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3" name="object 4">
            <a:extLst>
              <a:ext uri="{FF2B5EF4-FFF2-40B4-BE49-F238E27FC236}">
                <a16:creationId xmlns:a16="http://schemas.microsoft.com/office/drawing/2014/main" id="{BAAC946D-AC8F-CC53-D18D-911F1639D170}"/>
              </a:ext>
            </a:extLst>
          </p:cNvPr>
          <p:cNvSpPr txBox="1"/>
          <p:nvPr/>
        </p:nvSpPr>
        <p:spPr>
          <a:xfrm>
            <a:off x="1653889" y="2328645"/>
            <a:ext cx="152323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spc="-12" dirty="0">
                <a:latin typeface="Courier New"/>
                <a:cs typeface="Courier New"/>
              </a:rPr>
              <a:t>&lt;n&gt;&lt;n&gt;&lt;n&gt;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25C680C6-940F-305B-BBE8-86A067A333D1}"/>
              </a:ext>
            </a:extLst>
          </p:cNvPr>
          <p:cNvSpPr txBox="1"/>
          <p:nvPr/>
        </p:nvSpPr>
        <p:spPr>
          <a:xfrm>
            <a:off x="1061057" y="2595900"/>
            <a:ext cx="1950874" cy="3426567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R="16891" algn="r">
              <a:spcBef>
                <a:spcPts val="121"/>
              </a:spcBef>
              <a:tabLst>
                <a:tab pos="486004" algn="l"/>
                <a:tab pos="986595" algn="l"/>
              </a:tabLst>
            </a:pP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u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	</a:t>
            </a: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g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	</a:t>
            </a: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o</a:t>
            </a:r>
            <a:endParaRPr sz="2176">
              <a:latin typeface="Courier New"/>
              <a:cs typeface="Courier New"/>
            </a:endParaRPr>
          </a:p>
          <a:p>
            <a:pPr marL="1437281" indent="-426885">
              <a:spcBef>
                <a:spcPts val="1729"/>
              </a:spcBef>
              <a:buFont typeface="Courier New"/>
              <a:buAutoNum type="arabicPlain"/>
              <a:tabLst>
                <a:tab pos="1437281" algn="l"/>
              </a:tabLst>
            </a:pPr>
            <a:r>
              <a:rPr sz="2176" dirty="0">
                <a:latin typeface="Courier New"/>
                <a:cs typeface="Courier New"/>
              </a:rPr>
              <a:t>--</a:t>
            </a:r>
            <a:r>
              <a:rPr sz="2176" spc="-60" dirty="0">
                <a:latin typeface="Courier New"/>
                <a:cs typeface="Courier New"/>
              </a:rPr>
              <a:t>-</a:t>
            </a:r>
            <a:endParaRPr sz="2176">
              <a:latin typeface="Courier New"/>
              <a:cs typeface="Courier New"/>
            </a:endParaRPr>
          </a:p>
          <a:p>
            <a:pPr marL="1437281" indent="-426885">
              <a:spcBef>
                <a:spcPts val="218"/>
              </a:spcBef>
              <a:buFont typeface="Courier New"/>
              <a:buAutoNum type="arabicPlain"/>
              <a:tabLst>
                <a:tab pos="1437281" algn="l"/>
              </a:tabLst>
            </a:pPr>
            <a:r>
              <a:rPr sz="2176" dirty="0">
                <a:latin typeface="Courier New"/>
                <a:cs typeface="Courier New"/>
              </a:rPr>
              <a:t>--</a:t>
            </a:r>
            <a:r>
              <a:rPr sz="2176" spc="-60" dirty="0"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  <a:p>
            <a:pPr marL="1437281" indent="-426885">
              <a:spcBef>
                <a:spcPts val="218"/>
              </a:spcBef>
              <a:buFont typeface="Courier New"/>
              <a:buAutoNum type="arabicPlain"/>
              <a:tabLst>
                <a:tab pos="1437281" algn="l"/>
              </a:tabLst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30" dirty="0">
                <a:latin typeface="Courier New"/>
                <a:cs typeface="Courier New"/>
              </a:rPr>
              <a:t>w-</a:t>
            </a:r>
            <a:endParaRPr sz="2176">
              <a:latin typeface="Courier New"/>
              <a:cs typeface="Courier New"/>
            </a:endParaRPr>
          </a:p>
          <a:p>
            <a:pPr marR="6142" algn="r">
              <a:spcBef>
                <a:spcPts val="218"/>
              </a:spcBef>
              <a:tabLst>
                <a:tab pos="1090245" algn="l"/>
              </a:tabLst>
            </a:pPr>
            <a:r>
              <a:rPr sz="2176" spc="-12" dirty="0">
                <a:solidFill>
                  <a:srgbClr val="999999"/>
                </a:solidFill>
                <a:latin typeface="Courier New"/>
                <a:cs typeface="Courier New"/>
              </a:rPr>
              <a:t>2+1=</a:t>
            </a:r>
            <a:r>
              <a:rPr sz="2176" b="1" spc="-12" dirty="0">
                <a:latin typeface="Courier New"/>
                <a:cs typeface="Courier New"/>
              </a:rPr>
              <a:t>3</a:t>
            </a:r>
            <a:r>
              <a:rPr sz="2176" b="1" dirty="0">
                <a:latin typeface="Courier New"/>
                <a:cs typeface="Courier New"/>
              </a:rPr>
              <a:t>	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30" dirty="0">
                <a:latin typeface="Courier New"/>
                <a:cs typeface="Courier New"/>
              </a:rPr>
              <a:t>wx</a:t>
            </a:r>
            <a:endParaRPr sz="2176">
              <a:latin typeface="Courier New"/>
              <a:cs typeface="Courier New"/>
            </a:endParaRPr>
          </a:p>
          <a:p>
            <a:pPr marR="6142" algn="r">
              <a:spcBef>
                <a:spcPts val="218"/>
              </a:spcBef>
              <a:tabLst>
                <a:tab pos="426885" algn="l"/>
              </a:tabLst>
            </a:pPr>
            <a:r>
              <a:rPr sz="2176" b="1" spc="-60" dirty="0">
                <a:latin typeface="Courier New"/>
                <a:cs typeface="Courier New"/>
              </a:rPr>
              <a:t>4</a:t>
            </a:r>
            <a:r>
              <a:rPr sz="2176" b="1" dirty="0">
                <a:latin typeface="Courier New"/>
                <a:cs typeface="Courier New"/>
              </a:rPr>
              <a:t>	</a:t>
            </a:r>
            <a:r>
              <a:rPr sz="2176" dirty="0">
                <a:latin typeface="Courier New"/>
                <a:cs typeface="Courier New"/>
              </a:rPr>
              <a:t>r-</a:t>
            </a:r>
            <a:r>
              <a:rPr sz="2176" spc="-60" dirty="0">
                <a:latin typeface="Courier New"/>
                <a:cs typeface="Courier New"/>
              </a:rPr>
              <a:t>-</a:t>
            </a:r>
            <a:endParaRPr sz="2176">
              <a:latin typeface="Courier New"/>
              <a:cs typeface="Courier New"/>
            </a:endParaRPr>
          </a:p>
          <a:p>
            <a:pPr marR="6142" algn="r">
              <a:spcBef>
                <a:spcPts val="230"/>
              </a:spcBef>
              <a:tabLst>
                <a:tab pos="1090245" algn="l"/>
              </a:tabLst>
            </a:pPr>
            <a:r>
              <a:rPr sz="2176" spc="-12" dirty="0">
                <a:solidFill>
                  <a:srgbClr val="999999"/>
                </a:solidFill>
                <a:latin typeface="Courier New"/>
                <a:cs typeface="Courier New"/>
              </a:rPr>
              <a:t>4+1=</a:t>
            </a:r>
            <a:r>
              <a:rPr sz="2176" b="1" spc="-12" dirty="0">
                <a:latin typeface="Courier New"/>
                <a:cs typeface="Courier New"/>
              </a:rPr>
              <a:t>5</a:t>
            </a:r>
            <a:r>
              <a:rPr sz="2176" b="1" dirty="0">
                <a:latin typeface="Courier New"/>
                <a:cs typeface="Courier New"/>
              </a:rPr>
              <a:t>	</a:t>
            </a:r>
            <a:r>
              <a:rPr sz="2176" dirty="0">
                <a:latin typeface="Courier New"/>
                <a:cs typeface="Courier New"/>
              </a:rPr>
              <a:t>r-</a:t>
            </a:r>
            <a:r>
              <a:rPr sz="2176" spc="-60" dirty="0"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  <a:p>
            <a:pPr marR="6142" algn="r">
              <a:spcBef>
                <a:spcPts val="218"/>
              </a:spcBef>
              <a:tabLst>
                <a:tab pos="1090245" algn="l"/>
              </a:tabLst>
            </a:pPr>
            <a:r>
              <a:rPr sz="2176" spc="-12" dirty="0">
                <a:solidFill>
                  <a:srgbClr val="999999"/>
                </a:solidFill>
                <a:latin typeface="Courier New"/>
                <a:cs typeface="Courier New"/>
              </a:rPr>
              <a:t>4+2=</a:t>
            </a:r>
            <a:r>
              <a:rPr sz="2176" b="1" spc="-12" dirty="0">
                <a:latin typeface="Courier New"/>
                <a:cs typeface="Courier New"/>
              </a:rPr>
              <a:t>6</a:t>
            </a:r>
            <a:r>
              <a:rPr sz="2176" b="1" dirty="0">
                <a:latin typeface="Courier New"/>
                <a:cs typeface="Courier New"/>
              </a:rPr>
              <a:t>	</a:t>
            </a:r>
            <a:r>
              <a:rPr sz="2176" spc="-30" dirty="0">
                <a:latin typeface="Courier New"/>
                <a:cs typeface="Courier New"/>
              </a:rPr>
              <a:t>rw-</a:t>
            </a:r>
            <a:endParaRPr sz="2176">
              <a:latin typeface="Courier New"/>
              <a:cs typeface="Courier New"/>
            </a:endParaRPr>
          </a:p>
          <a:p>
            <a:pPr marR="6142" algn="r">
              <a:spcBef>
                <a:spcPts val="218"/>
              </a:spcBef>
              <a:tabLst>
                <a:tab pos="1421926" algn="l"/>
              </a:tabLst>
            </a:pPr>
            <a:r>
              <a:rPr sz="2176" spc="-12" dirty="0">
                <a:solidFill>
                  <a:srgbClr val="999999"/>
                </a:solidFill>
                <a:latin typeface="Courier New"/>
                <a:cs typeface="Courier New"/>
              </a:rPr>
              <a:t>4+2+1=</a:t>
            </a:r>
            <a:r>
              <a:rPr sz="2176" b="1" spc="-12" dirty="0">
                <a:latin typeface="Courier New"/>
                <a:cs typeface="Courier New"/>
              </a:rPr>
              <a:t>7</a:t>
            </a:r>
            <a:r>
              <a:rPr sz="2176" b="1" dirty="0">
                <a:latin typeface="Courier New"/>
                <a:cs typeface="Courier New"/>
              </a:rPr>
              <a:t>	</a:t>
            </a:r>
            <a:r>
              <a:rPr sz="2176" spc="-30" dirty="0">
                <a:latin typeface="Courier New"/>
                <a:cs typeface="Courier New"/>
              </a:rPr>
              <a:t>rwx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40A4B7AD-5DC7-5916-9053-837BABC1BC91}"/>
              </a:ext>
            </a:extLst>
          </p:cNvPr>
          <p:cNvSpPr txBox="1"/>
          <p:nvPr/>
        </p:nvSpPr>
        <p:spPr>
          <a:xfrm>
            <a:off x="7152364" y="2439202"/>
            <a:ext cx="1238665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lang="en-US" sz="2176" spc="-12" dirty="0">
                <a:latin typeface="Calibri"/>
                <a:cs typeface="Calibri"/>
              </a:rPr>
              <a:t>Example</a:t>
            </a:r>
            <a:r>
              <a:rPr sz="2176" spc="-12" dirty="0">
                <a:latin typeface="Calibri"/>
                <a:cs typeface="Calibri"/>
              </a:rPr>
              <a:t>:</a:t>
            </a:r>
            <a:endParaRPr sz="2176" dirty="0">
              <a:latin typeface="Calibri"/>
              <a:cs typeface="Calibri"/>
            </a:endParaRPr>
          </a:p>
        </p:txBody>
      </p:sp>
      <p:sp>
        <p:nvSpPr>
          <p:cNvPr id="48" name="object 10">
            <a:extLst>
              <a:ext uri="{FF2B5EF4-FFF2-40B4-BE49-F238E27FC236}">
                <a16:creationId xmlns:a16="http://schemas.microsoft.com/office/drawing/2014/main" id="{7DA1CD85-5709-51AE-D8BF-EB3F91EB60B1}"/>
              </a:ext>
            </a:extLst>
          </p:cNvPr>
          <p:cNvSpPr txBox="1"/>
          <p:nvPr/>
        </p:nvSpPr>
        <p:spPr>
          <a:xfrm>
            <a:off x="8803099" y="2413082"/>
            <a:ext cx="2157401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spc="-60" dirty="0">
                <a:latin typeface="Courier New"/>
                <a:cs typeface="Courier New"/>
              </a:rPr>
              <a:t>-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49" name="object 11">
            <a:extLst>
              <a:ext uri="{FF2B5EF4-FFF2-40B4-BE49-F238E27FC236}">
                <a16:creationId xmlns:a16="http://schemas.microsoft.com/office/drawing/2014/main" id="{DECD2469-68C6-0453-5417-865C66DE2A97}"/>
              </a:ext>
            </a:extLst>
          </p:cNvPr>
          <p:cNvSpPr txBox="1"/>
          <p:nvPr/>
        </p:nvSpPr>
        <p:spPr>
          <a:xfrm>
            <a:off x="8803100" y="3899508"/>
            <a:ext cx="215893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883" dirty="0"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r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w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spc="-60" dirty="0">
                <a:solidFill>
                  <a:srgbClr val="ED6676"/>
                </a:solidFill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B2E75D1B-B18B-A59E-0332-254F16DF7A27}"/>
              </a:ext>
            </a:extLst>
          </p:cNvPr>
          <p:cNvSpPr txBox="1"/>
          <p:nvPr/>
        </p:nvSpPr>
        <p:spPr>
          <a:xfrm>
            <a:off x="9081243" y="3180886"/>
            <a:ext cx="152323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chmod</a:t>
            </a:r>
            <a:r>
              <a:rPr sz="2176" spc="-6" dirty="0">
                <a:latin typeface="Courier New"/>
                <a:cs typeface="Courier New"/>
              </a:rPr>
              <a:t> </a:t>
            </a:r>
            <a:r>
              <a:rPr sz="2176" spc="-30" dirty="0">
                <a:latin typeface="Courier New"/>
                <a:cs typeface="Courier New"/>
              </a:rPr>
              <a:t>76</a:t>
            </a:r>
            <a:r>
              <a:rPr sz="2176" spc="-30" dirty="0">
                <a:solidFill>
                  <a:srgbClr val="ED6676"/>
                </a:solidFill>
                <a:latin typeface="Courier New"/>
                <a:cs typeface="Courier New"/>
              </a:rPr>
              <a:t>7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51" name="object 13">
            <a:extLst>
              <a:ext uri="{FF2B5EF4-FFF2-40B4-BE49-F238E27FC236}">
                <a16:creationId xmlns:a16="http://schemas.microsoft.com/office/drawing/2014/main" id="{6F5DD608-0131-615F-4932-F34F9A8EE1D3}"/>
              </a:ext>
            </a:extLst>
          </p:cNvPr>
          <p:cNvSpPr txBox="1"/>
          <p:nvPr/>
        </p:nvSpPr>
        <p:spPr>
          <a:xfrm>
            <a:off x="9163930" y="4667312"/>
            <a:ext cx="152323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chmod</a:t>
            </a:r>
            <a:r>
              <a:rPr sz="2176" spc="-6" dirty="0">
                <a:latin typeface="Courier New"/>
                <a:cs typeface="Courier New"/>
              </a:rPr>
              <a:t> </a:t>
            </a:r>
            <a:r>
              <a:rPr sz="2176" spc="-30" dirty="0">
                <a:latin typeface="Courier New"/>
                <a:cs typeface="Courier New"/>
              </a:rPr>
              <a:t>7</a:t>
            </a:r>
            <a:r>
              <a:rPr sz="2176" spc="-30" dirty="0">
                <a:solidFill>
                  <a:srgbClr val="ED6676"/>
                </a:solidFill>
                <a:latin typeface="Courier New"/>
                <a:cs typeface="Courier New"/>
              </a:rPr>
              <a:t>1</a:t>
            </a:r>
            <a:r>
              <a:rPr sz="2176" spc="-30" dirty="0">
                <a:latin typeface="Courier New"/>
                <a:cs typeface="Courier New"/>
              </a:rPr>
              <a:t>7</a:t>
            </a:r>
            <a:endParaRPr sz="2176">
              <a:latin typeface="Courier New"/>
              <a:cs typeface="Courier New"/>
            </a:endParaRPr>
          </a:p>
        </p:txBody>
      </p:sp>
      <p:sp>
        <p:nvSpPr>
          <p:cNvPr id="52" name="object 14">
            <a:extLst>
              <a:ext uri="{FF2B5EF4-FFF2-40B4-BE49-F238E27FC236}">
                <a16:creationId xmlns:a16="http://schemas.microsoft.com/office/drawing/2014/main" id="{5CF2CA30-8DAD-92A1-AA7D-1EB6DB675CB8}"/>
              </a:ext>
            </a:extLst>
          </p:cNvPr>
          <p:cNvSpPr txBox="1"/>
          <p:nvPr/>
        </p:nvSpPr>
        <p:spPr>
          <a:xfrm>
            <a:off x="8803100" y="5384628"/>
            <a:ext cx="2158936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Courier New"/>
                <a:cs typeface="Courier New"/>
              </a:rPr>
              <a:t>-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x</a:t>
            </a:r>
            <a:r>
              <a:rPr sz="2176" spc="-889" dirty="0"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-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-</a:t>
            </a:r>
            <a:r>
              <a:rPr sz="2176" spc="-901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solidFill>
                  <a:srgbClr val="ED6676"/>
                </a:solidFill>
                <a:latin typeface="Courier New"/>
                <a:cs typeface="Courier New"/>
              </a:rPr>
              <a:t>x</a:t>
            </a:r>
            <a:r>
              <a:rPr sz="2176" spc="-895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r</a:t>
            </a:r>
            <a:r>
              <a:rPr sz="2176" spc="-895" dirty="0">
                <a:latin typeface="Courier New"/>
                <a:cs typeface="Courier New"/>
              </a:rPr>
              <a:t> </a:t>
            </a:r>
            <a:r>
              <a:rPr sz="2176" dirty="0">
                <a:latin typeface="Courier New"/>
                <a:cs typeface="Courier New"/>
              </a:rPr>
              <a:t>w</a:t>
            </a:r>
            <a:r>
              <a:rPr sz="2176" spc="-901" dirty="0">
                <a:latin typeface="Courier New"/>
                <a:cs typeface="Courier New"/>
              </a:rPr>
              <a:t> </a:t>
            </a:r>
            <a:r>
              <a:rPr sz="2176" spc="-60" dirty="0">
                <a:latin typeface="Courier New"/>
                <a:cs typeface="Courier New"/>
              </a:rPr>
              <a:t>x</a:t>
            </a:r>
            <a:endParaRPr sz="2176">
              <a:latin typeface="Courier New"/>
              <a:cs typeface="Courier New"/>
            </a:endParaRPr>
          </a:p>
        </p:txBody>
      </p:sp>
      <p:grpSp>
        <p:nvGrpSpPr>
          <p:cNvPr id="53" name="object 15">
            <a:extLst>
              <a:ext uri="{FF2B5EF4-FFF2-40B4-BE49-F238E27FC236}">
                <a16:creationId xmlns:a16="http://schemas.microsoft.com/office/drawing/2014/main" id="{D000ED4D-305D-184B-FB2B-6B1C111E42DC}"/>
              </a:ext>
            </a:extLst>
          </p:cNvPr>
          <p:cNvGrpSpPr/>
          <p:nvPr/>
        </p:nvGrpSpPr>
        <p:grpSpPr>
          <a:xfrm>
            <a:off x="9865263" y="2885898"/>
            <a:ext cx="122074" cy="249521"/>
            <a:chOff x="8159394" y="2386084"/>
            <a:chExt cx="100965" cy="206375"/>
          </a:xfrm>
        </p:grpSpPr>
        <p:sp>
          <p:nvSpPr>
            <p:cNvPr id="54" name="object 16">
              <a:extLst>
                <a:ext uri="{FF2B5EF4-FFF2-40B4-BE49-F238E27FC236}">
                  <a16:creationId xmlns:a16="http://schemas.microsoft.com/office/drawing/2014/main" id="{EAC6EDAD-7A05-881E-306A-EDEE71E594AF}"/>
                </a:ext>
              </a:extLst>
            </p:cNvPr>
            <p:cNvSpPr/>
            <p:nvPr/>
          </p:nvSpPr>
          <p:spPr>
            <a:xfrm>
              <a:off x="8209444" y="2386084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86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55" name="object 17">
              <a:extLst>
                <a:ext uri="{FF2B5EF4-FFF2-40B4-BE49-F238E27FC236}">
                  <a16:creationId xmlns:a16="http://schemas.microsoft.com/office/drawing/2014/main" id="{3948FE23-ED4E-640D-3638-ECDA5FC20F9F}"/>
                </a:ext>
              </a:extLst>
            </p:cNvPr>
            <p:cNvSpPr/>
            <p:nvPr/>
          </p:nvSpPr>
          <p:spPr>
            <a:xfrm>
              <a:off x="8159394" y="2511725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4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56" name="object 18">
            <a:extLst>
              <a:ext uri="{FF2B5EF4-FFF2-40B4-BE49-F238E27FC236}">
                <a16:creationId xmlns:a16="http://schemas.microsoft.com/office/drawing/2014/main" id="{7662DAC9-5B73-3BD9-EBC9-08A087B97B1C}"/>
              </a:ext>
            </a:extLst>
          </p:cNvPr>
          <p:cNvGrpSpPr/>
          <p:nvPr/>
        </p:nvGrpSpPr>
        <p:grpSpPr>
          <a:xfrm>
            <a:off x="9865263" y="3603660"/>
            <a:ext cx="122074" cy="249521"/>
            <a:chOff x="8159394" y="2979733"/>
            <a:chExt cx="100965" cy="206375"/>
          </a:xfrm>
        </p:grpSpPr>
        <p:sp>
          <p:nvSpPr>
            <p:cNvPr id="57" name="object 19">
              <a:extLst>
                <a:ext uri="{FF2B5EF4-FFF2-40B4-BE49-F238E27FC236}">
                  <a16:creationId xmlns:a16="http://schemas.microsoft.com/office/drawing/2014/main" id="{A381EAAC-5299-CA98-EBD9-15F0A4B95134}"/>
                </a:ext>
              </a:extLst>
            </p:cNvPr>
            <p:cNvSpPr/>
            <p:nvPr/>
          </p:nvSpPr>
          <p:spPr>
            <a:xfrm>
              <a:off x="8209444" y="2979733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2829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58" name="object 20">
              <a:extLst>
                <a:ext uri="{FF2B5EF4-FFF2-40B4-BE49-F238E27FC236}">
                  <a16:creationId xmlns:a16="http://schemas.microsoft.com/office/drawing/2014/main" id="{42FFFC8B-88FF-42FC-508B-00E5C1C5C5EB}"/>
                </a:ext>
              </a:extLst>
            </p:cNvPr>
            <p:cNvSpPr/>
            <p:nvPr/>
          </p:nvSpPr>
          <p:spPr>
            <a:xfrm>
              <a:off x="8159394" y="3105730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4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59" name="object 21">
            <a:extLst>
              <a:ext uri="{FF2B5EF4-FFF2-40B4-BE49-F238E27FC236}">
                <a16:creationId xmlns:a16="http://schemas.microsoft.com/office/drawing/2014/main" id="{0EC4AD1C-28BD-2014-0265-6669F6DB344E}"/>
              </a:ext>
            </a:extLst>
          </p:cNvPr>
          <p:cNvGrpSpPr/>
          <p:nvPr/>
        </p:nvGrpSpPr>
        <p:grpSpPr>
          <a:xfrm>
            <a:off x="9865263" y="4371464"/>
            <a:ext cx="122074" cy="249521"/>
            <a:chOff x="8159394" y="3614771"/>
            <a:chExt cx="100965" cy="206375"/>
          </a:xfrm>
        </p:grpSpPr>
        <p:sp>
          <p:nvSpPr>
            <p:cNvPr id="60" name="object 22">
              <a:extLst>
                <a:ext uri="{FF2B5EF4-FFF2-40B4-BE49-F238E27FC236}">
                  <a16:creationId xmlns:a16="http://schemas.microsoft.com/office/drawing/2014/main" id="{2ABA0138-641B-55B3-4EB7-4BFEDA9A051B}"/>
                </a:ext>
              </a:extLst>
            </p:cNvPr>
            <p:cNvSpPr/>
            <p:nvPr/>
          </p:nvSpPr>
          <p:spPr>
            <a:xfrm>
              <a:off x="8209444" y="3614771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73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61" name="object 23">
              <a:extLst>
                <a:ext uri="{FF2B5EF4-FFF2-40B4-BE49-F238E27FC236}">
                  <a16:creationId xmlns:a16="http://schemas.microsoft.com/office/drawing/2014/main" id="{567696D8-ECE2-0D1E-A4CE-30385A063C0E}"/>
                </a:ext>
              </a:extLst>
            </p:cNvPr>
            <p:cNvSpPr/>
            <p:nvPr/>
          </p:nvSpPr>
          <p:spPr>
            <a:xfrm>
              <a:off x="8159394" y="3740412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grpSp>
        <p:nvGrpSpPr>
          <p:cNvPr id="62" name="object 24">
            <a:extLst>
              <a:ext uri="{FF2B5EF4-FFF2-40B4-BE49-F238E27FC236}">
                <a16:creationId xmlns:a16="http://schemas.microsoft.com/office/drawing/2014/main" id="{3A2665D9-1F95-138C-E199-A802E5736093}"/>
              </a:ext>
            </a:extLst>
          </p:cNvPr>
          <p:cNvGrpSpPr/>
          <p:nvPr/>
        </p:nvGrpSpPr>
        <p:grpSpPr>
          <a:xfrm>
            <a:off x="9865263" y="5089211"/>
            <a:ext cx="122074" cy="249521"/>
            <a:chOff x="8159394" y="4208407"/>
            <a:chExt cx="100965" cy="206375"/>
          </a:xfrm>
        </p:grpSpPr>
        <p:sp>
          <p:nvSpPr>
            <p:cNvPr id="63" name="object 25">
              <a:extLst>
                <a:ext uri="{FF2B5EF4-FFF2-40B4-BE49-F238E27FC236}">
                  <a16:creationId xmlns:a16="http://schemas.microsoft.com/office/drawing/2014/main" id="{7167B428-E2C0-EBC7-6291-570FC212A583}"/>
                </a:ext>
              </a:extLst>
            </p:cNvPr>
            <p:cNvSpPr/>
            <p:nvPr/>
          </p:nvSpPr>
          <p:spPr>
            <a:xfrm>
              <a:off x="8209444" y="4208407"/>
              <a:ext cx="0" cy="132715"/>
            </a:xfrm>
            <a:custGeom>
              <a:avLst/>
              <a:gdLst/>
              <a:ahLst/>
              <a:cxnLst/>
              <a:rect l="l" t="t" r="r" b="b"/>
              <a:pathLst>
                <a:path h="132714">
                  <a:moveTo>
                    <a:pt x="0" y="0"/>
                  </a:moveTo>
                  <a:lnTo>
                    <a:pt x="0" y="132486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64" name="object 26">
              <a:extLst>
                <a:ext uri="{FF2B5EF4-FFF2-40B4-BE49-F238E27FC236}">
                  <a16:creationId xmlns:a16="http://schemas.microsoft.com/office/drawing/2014/main" id="{C608D2CA-48E4-891F-44C2-0B792D9DEB15}"/>
                </a:ext>
              </a:extLst>
            </p:cNvPr>
            <p:cNvSpPr/>
            <p:nvPr/>
          </p:nvSpPr>
          <p:spPr>
            <a:xfrm>
              <a:off x="8159394" y="4334048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44" y="0"/>
                  </a:moveTo>
                  <a:lnTo>
                    <a:pt x="0" y="0"/>
                  </a:lnTo>
                  <a:lnTo>
                    <a:pt x="50050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65" name="object 27">
            <a:extLst>
              <a:ext uri="{FF2B5EF4-FFF2-40B4-BE49-F238E27FC236}">
                <a16:creationId xmlns:a16="http://schemas.microsoft.com/office/drawing/2014/main" id="{6DA92881-27D9-2129-E16C-BDC9758E8891}"/>
              </a:ext>
            </a:extLst>
          </p:cNvPr>
          <p:cNvSpPr/>
          <p:nvPr/>
        </p:nvSpPr>
        <p:spPr>
          <a:xfrm>
            <a:off x="10408037" y="3224541"/>
            <a:ext cx="210366" cy="336278"/>
          </a:xfrm>
          <a:custGeom>
            <a:avLst/>
            <a:gdLst/>
            <a:ahLst/>
            <a:cxnLst/>
            <a:rect l="l" t="t" r="r" b="b"/>
            <a:pathLst>
              <a:path w="173990" h="278130">
                <a:moveTo>
                  <a:pt x="173888" y="0"/>
                </a:moveTo>
                <a:lnTo>
                  <a:pt x="0" y="0"/>
                </a:lnTo>
                <a:lnTo>
                  <a:pt x="0" y="277914"/>
                </a:lnTo>
                <a:lnTo>
                  <a:pt x="87121" y="277914"/>
                </a:lnTo>
                <a:lnTo>
                  <a:pt x="173888" y="277914"/>
                </a:lnTo>
                <a:lnTo>
                  <a:pt x="173888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66" name="object 28">
            <a:extLst>
              <a:ext uri="{FF2B5EF4-FFF2-40B4-BE49-F238E27FC236}">
                <a16:creationId xmlns:a16="http://schemas.microsoft.com/office/drawing/2014/main" id="{D4D30C6B-541D-6D96-BD23-F8AA134964E9}"/>
              </a:ext>
            </a:extLst>
          </p:cNvPr>
          <p:cNvSpPr/>
          <p:nvPr/>
        </p:nvSpPr>
        <p:spPr>
          <a:xfrm>
            <a:off x="10310546" y="4704441"/>
            <a:ext cx="210366" cy="336278"/>
          </a:xfrm>
          <a:custGeom>
            <a:avLst/>
            <a:gdLst/>
            <a:ahLst/>
            <a:cxnLst/>
            <a:rect l="l" t="t" r="r" b="b"/>
            <a:pathLst>
              <a:path w="173990" h="278129">
                <a:moveTo>
                  <a:pt x="173875" y="0"/>
                </a:moveTo>
                <a:lnTo>
                  <a:pt x="0" y="0"/>
                </a:lnTo>
                <a:lnTo>
                  <a:pt x="0" y="277914"/>
                </a:lnTo>
                <a:lnTo>
                  <a:pt x="87122" y="277914"/>
                </a:lnTo>
                <a:lnTo>
                  <a:pt x="173875" y="277914"/>
                </a:lnTo>
                <a:lnTo>
                  <a:pt x="173875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67" name="object 29">
            <a:extLst>
              <a:ext uri="{FF2B5EF4-FFF2-40B4-BE49-F238E27FC236}">
                <a16:creationId xmlns:a16="http://schemas.microsoft.com/office/drawing/2014/main" id="{BFDC8CC9-2C82-F086-A234-2BA3ABBF8074}"/>
              </a:ext>
            </a:extLst>
          </p:cNvPr>
          <p:cNvSpPr/>
          <p:nvPr/>
        </p:nvSpPr>
        <p:spPr>
          <a:xfrm>
            <a:off x="10281387" y="3948813"/>
            <a:ext cx="704802" cy="336278"/>
          </a:xfrm>
          <a:custGeom>
            <a:avLst/>
            <a:gdLst/>
            <a:ahLst/>
            <a:cxnLst/>
            <a:rect l="l" t="t" r="r" b="b"/>
            <a:pathLst>
              <a:path w="582929" h="278129">
                <a:moveTo>
                  <a:pt x="582841" y="0"/>
                </a:moveTo>
                <a:lnTo>
                  <a:pt x="0" y="0"/>
                </a:lnTo>
                <a:lnTo>
                  <a:pt x="0" y="277926"/>
                </a:lnTo>
                <a:lnTo>
                  <a:pt x="291592" y="277926"/>
                </a:lnTo>
                <a:lnTo>
                  <a:pt x="582841" y="277926"/>
                </a:lnTo>
                <a:lnTo>
                  <a:pt x="582841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68" name="object 30">
            <a:extLst>
              <a:ext uri="{FF2B5EF4-FFF2-40B4-BE49-F238E27FC236}">
                <a16:creationId xmlns:a16="http://schemas.microsoft.com/office/drawing/2014/main" id="{EA27022C-5AC2-AF75-7FE6-C6F1162B3922}"/>
              </a:ext>
            </a:extLst>
          </p:cNvPr>
          <p:cNvSpPr/>
          <p:nvPr/>
        </p:nvSpPr>
        <p:spPr>
          <a:xfrm>
            <a:off x="9639803" y="5428713"/>
            <a:ext cx="704802" cy="336278"/>
          </a:xfrm>
          <a:custGeom>
            <a:avLst/>
            <a:gdLst/>
            <a:ahLst/>
            <a:cxnLst/>
            <a:rect l="l" t="t" r="r" b="b"/>
            <a:pathLst>
              <a:path w="582929" h="278129">
                <a:moveTo>
                  <a:pt x="582841" y="0"/>
                </a:moveTo>
                <a:lnTo>
                  <a:pt x="0" y="0"/>
                </a:lnTo>
                <a:lnTo>
                  <a:pt x="0" y="277926"/>
                </a:lnTo>
                <a:lnTo>
                  <a:pt x="291604" y="277926"/>
                </a:lnTo>
                <a:lnTo>
                  <a:pt x="582841" y="277926"/>
                </a:lnTo>
                <a:lnTo>
                  <a:pt x="582841" y="0"/>
                </a:lnTo>
                <a:close/>
              </a:path>
            </a:pathLst>
          </a:custGeom>
          <a:solidFill>
            <a:srgbClr val="ED667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69" name="object 33">
            <a:extLst>
              <a:ext uri="{FF2B5EF4-FFF2-40B4-BE49-F238E27FC236}">
                <a16:creationId xmlns:a16="http://schemas.microsoft.com/office/drawing/2014/main" id="{F30E4962-DC53-45C9-732D-17474F2E0750}"/>
              </a:ext>
            </a:extLst>
          </p:cNvPr>
          <p:cNvSpPr txBox="1">
            <a:spLocks/>
          </p:cNvSpPr>
          <p:nvPr/>
        </p:nvSpPr>
        <p:spPr>
          <a:xfrm>
            <a:off x="9488055" y="5291424"/>
            <a:ext cx="2565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 kern="0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35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135"/>
                </a:spcBef>
              </a:pPr>
              <a:t>11</a:t>
            </a:fld>
            <a:endParaRPr lang="en-US" spc="-30" dirty="0"/>
          </a:p>
        </p:txBody>
      </p:sp>
    </p:spTree>
    <p:extLst>
      <p:ext uri="{BB962C8B-B14F-4D97-AF65-F5344CB8AC3E}">
        <p14:creationId xmlns:p14="http://schemas.microsoft.com/office/powerpoint/2010/main" val="287243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0A61-C1BA-8E38-4510-9CD4764D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Pipes and output redirection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EE2596-501F-2DB2-7B85-3D2A0652E3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Pipe: |</a:t>
            </a:r>
          </a:p>
          <a:p>
            <a:r>
              <a:rPr lang="en-US" dirty="0"/>
              <a:t>Use output from one command as the input for the next 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8B3AF-7905-ED2F-3271-6AE6FF7757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Redirect output: &gt; and &gt;&gt;</a:t>
            </a:r>
          </a:p>
          <a:p>
            <a:r>
              <a:rPr lang="en-US" dirty="0"/>
              <a:t>Redirect output from command to a file</a:t>
            </a:r>
          </a:p>
          <a:p>
            <a:r>
              <a:rPr lang="en-US" dirty="0"/>
              <a:t>&gt;: Overwrite contents of the file</a:t>
            </a:r>
          </a:p>
          <a:p>
            <a:r>
              <a:rPr lang="en-US" dirty="0"/>
              <a:t>&gt;&gt;: Append to contents of the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472FF-9672-5BAD-3CA3-C24357DB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0D077-1279-BEB3-BFEB-6488220997C7}"/>
              </a:ext>
            </a:extLst>
          </p:cNvPr>
          <p:cNvSpPr txBox="1"/>
          <p:nvPr/>
        </p:nvSpPr>
        <p:spPr>
          <a:xfrm>
            <a:off x="5561571" y="5283198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6281"/>
            <a:r>
              <a:rPr lang="en-US" sz="1800" dirty="0">
                <a:latin typeface="Courier New"/>
                <a:cs typeface="Courier New"/>
              </a:rPr>
              <a:t>grep</a:t>
            </a:r>
            <a:r>
              <a:rPr lang="en-US" sz="1800" spc="-121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YDL223C</a:t>
            </a:r>
            <a:r>
              <a:rPr lang="en-US" sz="1800" spc="-133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yeast.gtf</a:t>
            </a:r>
            <a:r>
              <a:rPr lang="en-US" sz="1800" spc="-91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&gt;</a:t>
            </a:r>
            <a:r>
              <a:rPr lang="en-US" sz="1800" b="1" spc="-121" dirty="0">
                <a:latin typeface="Courier New"/>
                <a:cs typeface="Courier New"/>
              </a:rPr>
              <a:t> </a:t>
            </a:r>
            <a:r>
              <a:rPr lang="en-US" sz="1800" spc="-12" dirty="0" err="1">
                <a:latin typeface="Courier New"/>
                <a:cs typeface="Courier New"/>
              </a:rPr>
              <a:t>some_file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05BDA-950E-6DA6-A548-48BA5AB71171}"/>
              </a:ext>
            </a:extLst>
          </p:cNvPr>
          <p:cNvSpPr txBox="1"/>
          <p:nvPr/>
        </p:nvSpPr>
        <p:spPr>
          <a:xfrm>
            <a:off x="838200" y="4001294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56"/>
            <a:r>
              <a:rPr lang="en-US" sz="1800" dirty="0">
                <a:latin typeface="Courier New"/>
                <a:cs typeface="Courier New"/>
              </a:rPr>
              <a:t>grep</a:t>
            </a:r>
            <a:r>
              <a:rPr lang="en-US" sz="1800" spc="-97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YDL223C</a:t>
            </a:r>
            <a:r>
              <a:rPr lang="en-US" sz="1800" spc="-103" dirty="0">
                <a:latin typeface="Courier New"/>
                <a:cs typeface="Courier New"/>
              </a:rPr>
              <a:t> </a:t>
            </a:r>
            <a:r>
              <a:rPr lang="en-US" sz="1800" dirty="0" err="1">
                <a:latin typeface="Courier New"/>
                <a:cs typeface="Courier New"/>
              </a:rPr>
              <a:t>yeast.gtf</a:t>
            </a:r>
            <a:r>
              <a:rPr lang="en-US" sz="1800" spc="-67" dirty="0">
                <a:latin typeface="Courier New"/>
                <a:cs typeface="Courier New"/>
              </a:rPr>
              <a:t> </a:t>
            </a:r>
            <a:r>
              <a:rPr lang="en-US" sz="1800" b="1" dirty="0">
                <a:latin typeface="Courier New"/>
                <a:cs typeface="Courier New"/>
              </a:rPr>
              <a:t>|</a:t>
            </a:r>
            <a:r>
              <a:rPr lang="en-US" sz="1800" b="1" spc="-91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cut</a:t>
            </a:r>
            <a:r>
              <a:rPr lang="en-US" sz="1800" spc="-97" dirty="0">
                <a:latin typeface="Courier New"/>
                <a:cs typeface="Courier New"/>
              </a:rPr>
              <a:t> </a:t>
            </a:r>
            <a:r>
              <a:rPr lang="en-US" sz="1800" spc="-30" dirty="0">
                <a:latin typeface="Courier New"/>
                <a:cs typeface="Courier New"/>
              </a:rPr>
              <a:t>-</a:t>
            </a:r>
            <a:r>
              <a:rPr lang="en-US" sz="1800" dirty="0">
                <a:latin typeface="Courier New"/>
                <a:cs typeface="Courier New"/>
              </a:rPr>
              <a:t>f</a:t>
            </a:r>
            <a:r>
              <a:rPr lang="en-US" sz="1800" spc="-91" dirty="0">
                <a:latin typeface="Courier New"/>
                <a:cs typeface="Courier New"/>
              </a:rPr>
              <a:t> </a:t>
            </a:r>
            <a:r>
              <a:rPr lang="en-US" sz="1800" spc="-60" dirty="0">
                <a:latin typeface="Courier New"/>
                <a:cs typeface="Courier New"/>
              </a:rPr>
              <a:t>2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943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817C-9646-5495-9FD9-97E31372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and Tricks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FF736-E929-88DD-89E7-238E041B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13</a:t>
            </a:fld>
            <a:endParaRPr lang="en-US" dirty="0"/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43E7F7CB-2C67-9798-C0F5-EEE44A834282}"/>
              </a:ext>
            </a:extLst>
          </p:cNvPr>
          <p:cNvSpPr txBox="1"/>
          <p:nvPr/>
        </p:nvSpPr>
        <p:spPr>
          <a:xfrm>
            <a:off x="849817" y="1713580"/>
            <a:ext cx="4555108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b="1" dirty="0">
                <a:solidFill>
                  <a:srgbClr val="ED6676"/>
                </a:solidFill>
                <a:latin typeface="Calibri"/>
                <a:cs typeface="Calibri"/>
              </a:rPr>
              <a:t>TAB</a:t>
            </a:r>
            <a:r>
              <a:rPr sz="2902" b="1" spc="-24" dirty="0">
                <a:solidFill>
                  <a:srgbClr val="ED6676"/>
                </a:solidFill>
                <a:latin typeface="Calibri"/>
                <a:cs typeface="Calibri"/>
              </a:rPr>
              <a:t> </a:t>
            </a:r>
            <a:r>
              <a:rPr sz="2902" b="1" spc="115" dirty="0">
                <a:solidFill>
                  <a:srgbClr val="ED6676"/>
                </a:solidFill>
                <a:latin typeface="Calibri"/>
                <a:cs typeface="Calibri"/>
              </a:rPr>
              <a:t>=</a:t>
            </a:r>
            <a:r>
              <a:rPr sz="2902" b="1" spc="-18" dirty="0">
                <a:solidFill>
                  <a:srgbClr val="ED6676"/>
                </a:solidFill>
                <a:latin typeface="Calibri"/>
                <a:cs typeface="Calibri"/>
              </a:rPr>
              <a:t> </a:t>
            </a:r>
            <a:r>
              <a:rPr lang="en-US" sz="2902" b="1" spc="-12" dirty="0">
                <a:solidFill>
                  <a:srgbClr val="ED6676"/>
                </a:solidFill>
                <a:latin typeface="Calibri"/>
                <a:cs typeface="Calibri"/>
              </a:rPr>
              <a:t>Autocompletion!!!</a:t>
            </a:r>
            <a:endParaRPr sz="2902" dirty="0">
              <a:latin typeface="Calibri"/>
              <a:cs typeface="Calibri"/>
            </a:endParaRPr>
          </a:p>
        </p:txBody>
      </p:sp>
      <p:grpSp>
        <p:nvGrpSpPr>
          <p:cNvPr id="26" name="object 7">
            <a:extLst>
              <a:ext uri="{FF2B5EF4-FFF2-40B4-BE49-F238E27FC236}">
                <a16:creationId xmlns:a16="http://schemas.microsoft.com/office/drawing/2014/main" id="{6C244AF7-C85C-FEF3-8201-E2839B891AD0}"/>
              </a:ext>
            </a:extLst>
          </p:cNvPr>
          <p:cNvGrpSpPr/>
          <p:nvPr/>
        </p:nvGrpSpPr>
        <p:grpSpPr>
          <a:xfrm>
            <a:off x="3127371" y="2831822"/>
            <a:ext cx="122074" cy="308639"/>
            <a:chOff x="2586596" y="3729605"/>
            <a:chExt cx="100965" cy="255270"/>
          </a:xfrm>
        </p:grpSpPr>
        <p:sp>
          <p:nvSpPr>
            <p:cNvPr id="27" name="object 8">
              <a:extLst>
                <a:ext uri="{FF2B5EF4-FFF2-40B4-BE49-F238E27FC236}">
                  <a16:creationId xmlns:a16="http://schemas.microsoft.com/office/drawing/2014/main" id="{ECF85544-2B29-F0E4-30F9-B1BAA1523891}"/>
                </a:ext>
              </a:extLst>
            </p:cNvPr>
            <p:cNvSpPr/>
            <p:nvPr/>
          </p:nvSpPr>
          <p:spPr>
            <a:xfrm>
              <a:off x="2636634" y="3729605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0"/>
                  </a:moveTo>
                  <a:lnTo>
                    <a:pt x="0" y="181444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28" name="object 9">
              <a:extLst>
                <a:ext uri="{FF2B5EF4-FFF2-40B4-BE49-F238E27FC236}">
                  <a16:creationId xmlns:a16="http://schemas.microsoft.com/office/drawing/2014/main" id="{8D7EB9CF-F1C3-05E4-101D-9E59C1DEECCD}"/>
                </a:ext>
              </a:extLst>
            </p:cNvPr>
            <p:cNvSpPr/>
            <p:nvPr/>
          </p:nvSpPr>
          <p:spPr>
            <a:xfrm>
              <a:off x="2586596" y="3904204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44" y="0"/>
                  </a:moveTo>
                  <a:lnTo>
                    <a:pt x="0" y="0"/>
                  </a:lnTo>
                  <a:lnTo>
                    <a:pt x="50037" y="80289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29" name="object 10">
            <a:extLst>
              <a:ext uri="{FF2B5EF4-FFF2-40B4-BE49-F238E27FC236}">
                <a16:creationId xmlns:a16="http://schemas.microsoft.com/office/drawing/2014/main" id="{AC5D6A89-F6DC-D8D9-246E-306C1A827808}"/>
              </a:ext>
            </a:extLst>
          </p:cNvPr>
          <p:cNvSpPr txBox="1"/>
          <p:nvPr/>
        </p:nvSpPr>
        <p:spPr>
          <a:xfrm>
            <a:off x="436009" y="2370322"/>
            <a:ext cx="5503291" cy="1924425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768" algn="ctr">
              <a:spcBef>
                <a:spcPts val="121"/>
              </a:spcBef>
            </a:pPr>
            <a:r>
              <a:rPr sz="2660" spc="-12" dirty="0">
                <a:latin typeface="Courier New"/>
                <a:cs typeface="Courier New"/>
              </a:rPr>
              <a:t>sacch</a:t>
            </a:r>
            <a:endParaRPr sz="2660" dirty="0">
              <a:latin typeface="Courier New"/>
              <a:cs typeface="Courier New"/>
            </a:endParaRPr>
          </a:p>
          <a:p>
            <a:pPr marL="59119" algn="ctr">
              <a:spcBef>
                <a:spcPts val="2920"/>
              </a:spcBef>
            </a:pPr>
            <a:r>
              <a:rPr sz="2418" b="1" spc="-24" dirty="0">
                <a:latin typeface="Calibri"/>
                <a:cs typeface="Calibri"/>
              </a:rPr>
              <a:t>TAB!</a:t>
            </a:r>
            <a:endParaRPr sz="2418" dirty="0">
              <a:latin typeface="Calibri"/>
              <a:cs typeface="Calibri"/>
            </a:endParaRPr>
          </a:p>
          <a:p>
            <a:pPr algn="ctr">
              <a:spcBef>
                <a:spcPts val="2690"/>
              </a:spcBef>
            </a:pPr>
            <a:r>
              <a:rPr sz="2660" spc="-12" dirty="0">
                <a:latin typeface="Courier New"/>
                <a:cs typeface="Courier New"/>
              </a:rPr>
              <a:t>saccharomyces_cerivisae.gff</a:t>
            </a:r>
            <a:endParaRPr sz="2660" dirty="0">
              <a:latin typeface="Courier New"/>
              <a:cs typeface="Courier New"/>
            </a:endParaRPr>
          </a:p>
        </p:txBody>
      </p:sp>
      <p:grpSp>
        <p:nvGrpSpPr>
          <p:cNvPr id="30" name="object 11">
            <a:extLst>
              <a:ext uri="{FF2B5EF4-FFF2-40B4-BE49-F238E27FC236}">
                <a16:creationId xmlns:a16="http://schemas.microsoft.com/office/drawing/2014/main" id="{E8B13D27-21B1-4738-5B5D-283EA1027F87}"/>
              </a:ext>
            </a:extLst>
          </p:cNvPr>
          <p:cNvGrpSpPr/>
          <p:nvPr/>
        </p:nvGrpSpPr>
        <p:grpSpPr>
          <a:xfrm>
            <a:off x="3127371" y="3566120"/>
            <a:ext cx="122074" cy="308639"/>
            <a:chOff x="2586596" y="4336931"/>
            <a:chExt cx="100965" cy="255270"/>
          </a:xfrm>
        </p:grpSpPr>
        <p:sp>
          <p:nvSpPr>
            <p:cNvPr id="31" name="object 12">
              <a:extLst>
                <a:ext uri="{FF2B5EF4-FFF2-40B4-BE49-F238E27FC236}">
                  <a16:creationId xmlns:a16="http://schemas.microsoft.com/office/drawing/2014/main" id="{E2A5C159-12E4-9E47-6FA1-91E718C85E1C}"/>
                </a:ext>
              </a:extLst>
            </p:cNvPr>
            <p:cNvSpPr/>
            <p:nvPr/>
          </p:nvSpPr>
          <p:spPr>
            <a:xfrm>
              <a:off x="2636634" y="4336931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0"/>
                  </a:moveTo>
                  <a:lnTo>
                    <a:pt x="0" y="181432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DB26FA60-6817-352B-EC45-B65A31AD6AFE}"/>
                </a:ext>
              </a:extLst>
            </p:cNvPr>
            <p:cNvSpPr/>
            <p:nvPr/>
          </p:nvSpPr>
          <p:spPr>
            <a:xfrm>
              <a:off x="2586596" y="4511531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44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4">
                <a:extLst>
                  <a:ext uri="{FF2B5EF4-FFF2-40B4-BE49-F238E27FC236}">
                    <a16:creationId xmlns:a16="http://schemas.microsoft.com/office/drawing/2014/main" id="{29AE070C-6B64-3D78-855D-AC81DAACD881}"/>
                  </a:ext>
                </a:extLst>
              </p:cNvPr>
              <p:cNvSpPr txBox="1"/>
              <p:nvPr/>
            </p:nvSpPr>
            <p:spPr>
              <a:xfrm>
                <a:off x="6616340" y="1992348"/>
                <a:ext cx="4544361" cy="3225160"/>
              </a:xfrm>
              <a:prstGeom prst="rect">
                <a:avLst/>
              </a:prstGeom>
            </p:spPr>
            <p:txBody>
              <a:bodyPr vert="horz" wrap="square" lIns="0" tIns="14587" rIns="0" bIns="0" rtlCol="0">
                <a:spAutoFit/>
              </a:bodyPr>
              <a:lstStyle/>
              <a:p>
                <a:pPr marL="393103" marR="216514" indent="-377747">
                  <a:lnSpc>
                    <a:spcPct val="108400"/>
                  </a:lnSpc>
                  <a:spcBef>
                    <a:spcPts val="115"/>
                  </a:spcBef>
                  <a:buChar char="•"/>
                  <a:tabLst>
                    <a:tab pos="1120957" algn="l"/>
                  </a:tabLst>
                </a:pPr>
                <a14:m>
                  <m:oMath xmlns:m="http://schemas.openxmlformats.org/officeDocument/2006/math">
                    <m:r>
                      <a:rPr lang="en-US" sz="2902" b="1" i="1" spc="18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↑</m:t>
                    </m:r>
                  </m:oMath>
                </a14:m>
                <a:r>
                  <a:rPr lang="en-US" sz="2902" b="1" spc="18" dirty="0">
                    <a:latin typeface="+mj-lt"/>
                    <a:cs typeface="Calibri"/>
                  </a:rPr>
                  <a:t> </a:t>
                </a:r>
                <a:r>
                  <a:rPr sz="2902" b="1" spc="18" dirty="0">
                    <a:latin typeface="+mj-lt"/>
                    <a:cs typeface="Calibri"/>
                  </a:rPr>
                  <a:t> </a:t>
                </a:r>
                <a:r>
                  <a:rPr sz="2902" b="1" spc="115" dirty="0">
                    <a:latin typeface="+mj-lt"/>
                    <a:cs typeface="Calibri"/>
                  </a:rPr>
                  <a:t>=</a:t>
                </a:r>
                <a:r>
                  <a:rPr sz="2902" b="1" spc="629" dirty="0">
                    <a:latin typeface="+mj-lt"/>
                    <a:cs typeface="Calibri"/>
                  </a:rPr>
                  <a:t> </a:t>
                </a:r>
                <a:r>
                  <a:rPr lang="en-US" sz="2902" b="1" dirty="0">
                    <a:latin typeface="+mj-lt"/>
                    <a:cs typeface="Calibri"/>
                  </a:rPr>
                  <a:t>”Scroll” through 	previous commands</a:t>
                </a:r>
                <a:endParaRPr sz="2902" dirty="0">
                  <a:latin typeface="+mj-lt"/>
                  <a:cs typeface="Calibri"/>
                </a:endParaRPr>
              </a:p>
              <a:p>
                <a:pPr>
                  <a:lnSpc>
                    <a:spcPct val="100000"/>
                  </a:lnSpc>
                </a:pPr>
                <a:endParaRPr sz="2902" dirty="0">
                  <a:latin typeface="+mj-lt"/>
                  <a:cs typeface="Calibri"/>
                </a:endParaRPr>
              </a:p>
              <a:p>
                <a:pPr>
                  <a:spcBef>
                    <a:spcPts val="60"/>
                  </a:spcBef>
                </a:pPr>
                <a:endParaRPr sz="2902" dirty="0">
                  <a:latin typeface="+mj-lt"/>
                  <a:cs typeface="Calibri"/>
                </a:endParaRPr>
              </a:p>
              <a:p>
                <a:pPr marL="15356">
                  <a:spcBef>
                    <a:spcPts val="6"/>
                  </a:spcBef>
                  <a:tabLst>
                    <a:tab pos="1230749" algn="l"/>
                    <a:tab pos="1672989" algn="l"/>
                  </a:tabLst>
                </a:pPr>
                <a:r>
                  <a:rPr lang="en-US" sz="2902" b="1" spc="73" dirty="0" err="1">
                    <a:latin typeface="+mj-lt"/>
                    <a:cs typeface="Calibri"/>
                  </a:rPr>
                  <a:t>Ctrl</a:t>
                </a:r>
                <a:r>
                  <a:rPr sz="2902" b="1" spc="73" dirty="0" err="1">
                    <a:latin typeface="+mj-lt"/>
                    <a:cs typeface="Calibri"/>
                  </a:rPr>
                  <a:t>+C</a:t>
                </a:r>
                <a:r>
                  <a:rPr sz="2902" b="1" dirty="0">
                    <a:latin typeface="+mj-lt"/>
                    <a:cs typeface="Calibri"/>
                  </a:rPr>
                  <a:t>	</a:t>
                </a:r>
                <a:r>
                  <a:rPr sz="2902" b="1" spc="54" dirty="0">
                    <a:latin typeface="+mj-lt"/>
                    <a:cs typeface="Calibri"/>
                  </a:rPr>
                  <a:t>=</a:t>
                </a:r>
                <a:r>
                  <a:rPr sz="2902" b="1" dirty="0">
                    <a:latin typeface="+mj-lt"/>
                    <a:cs typeface="Calibri"/>
                  </a:rPr>
                  <a:t>	</a:t>
                </a:r>
                <a:r>
                  <a:rPr lang="en-US" sz="2902" b="1" dirty="0">
                    <a:latin typeface="+mj-lt"/>
                    <a:cs typeface="Calibri"/>
                  </a:rPr>
                  <a:t>Abort current task 		and regain user 		control</a:t>
                </a:r>
                <a:endParaRPr sz="2902" dirty="0">
                  <a:latin typeface="+mj-lt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14">
                <a:extLst>
                  <a:ext uri="{FF2B5EF4-FFF2-40B4-BE49-F238E27FC236}">
                    <a16:creationId xmlns:a16="http://schemas.microsoft.com/office/drawing/2014/main" id="{29AE070C-6B64-3D78-855D-AC81DAACD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340" y="1992348"/>
                <a:ext cx="4544361" cy="3225160"/>
              </a:xfrm>
              <a:prstGeom prst="rect">
                <a:avLst/>
              </a:prstGeom>
              <a:blipFill>
                <a:blip r:embed="rId2"/>
                <a:stretch>
                  <a:fillRect l="-4457" t="-2353" r="-55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A477FCD-94A2-40F8-9D41-8CE67BBDA923}"/>
              </a:ext>
            </a:extLst>
          </p:cNvPr>
          <p:cNvSpPr txBox="1"/>
          <p:nvPr/>
        </p:nvSpPr>
        <p:spPr>
          <a:xfrm>
            <a:off x="436009" y="5837129"/>
            <a:ext cx="518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…and so much more!!! Practice, practice, practice </a:t>
            </a:r>
          </a:p>
        </p:txBody>
      </p:sp>
    </p:spTree>
    <p:extLst>
      <p:ext uri="{BB962C8B-B14F-4D97-AF65-F5344CB8AC3E}">
        <p14:creationId xmlns:p14="http://schemas.microsoft.com/office/powerpoint/2010/main" val="273772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C417-F461-C0DD-1B56-51CAA8CF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04C10-6450-B82E-D0B5-58A1BF5E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cript: sequence of commands in a file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Bash reads the file and processes the commands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order</a:t>
            </a:r>
          </a:p>
          <a:p>
            <a:pPr algn="l"/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Any 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commands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that can be used in the command line can also be used in a script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We can add things like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variables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loops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and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if-statements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to scripts for complex automation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3F3AE-6648-8120-34DB-75925AE9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D7E6E-50BF-0B12-19CE-015B763B6152}"/>
              </a:ext>
            </a:extLst>
          </p:cNvPr>
          <p:cNvSpPr txBox="1"/>
          <p:nvPr/>
        </p:nvSpPr>
        <p:spPr>
          <a:xfrm rot="603485">
            <a:off x="8447570" y="925904"/>
            <a:ext cx="2501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Automate!!!!</a:t>
            </a:r>
          </a:p>
        </p:txBody>
      </p:sp>
    </p:spTree>
    <p:extLst>
      <p:ext uri="{BB962C8B-B14F-4D97-AF65-F5344CB8AC3E}">
        <p14:creationId xmlns:p14="http://schemas.microsoft.com/office/powerpoint/2010/main" val="2176466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4E29-1375-C403-789F-59077465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672B-DFA1-DE59-7654-C4483956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15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7AC64A3-AB5A-E317-DC0D-F7DEA3C25458}"/>
              </a:ext>
            </a:extLst>
          </p:cNvPr>
          <p:cNvSpPr txBox="1"/>
          <p:nvPr/>
        </p:nvSpPr>
        <p:spPr>
          <a:xfrm>
            <a:off x="2997200" y="1947468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ABABA"/>
                </a:solidFill>
                <a:latin typeface="Courier New"/>
                <a:cs typeface="Courier New"/>
              </a:rPr>
              <a:t>#!/bin/bash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0D0E50F-BA94-CD41-5977-9558FB3318C4}"/>
              </a:ext>
            </a:extLst>
          </p:cNvPr>
          <p:cNvSpPr txBox="1"/>
          <p:nvPr/>
        </p:nvSpPr>
        <p:spPr>
          <a:xfrm>
            <a:off x="2997200" y="2520581"/>
            <a:ext cx="11226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4376A9"/>
                </a:solidFill>
                <a:latin typeface="Courier New"/>
                <a:cs typeface="Courier New"/>
              </a:rPr>
              <a:t>apple</a:t>
            </a:r>
            <a:r>
              <a:rPr sz="1800" spc="-10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4376A9"/>
                </a:solidFill>
                <a:latin typeface="Courier New"/>
                <a:cs typeface="Courier New"/>
              </a:rPr>
              <a:t>$1 </a:t>
            </a:r>
            <a:r>
              <a:rPr lang="en-US" sz="1800" spc="-10" dirty="0">
                <a:solidFill>
                  <a:srgbClr val="4376A9"/>
                </a:solidFill>
                <a:latin typeface="Courier New"/>
                <a:cs typeface="Courier New"/>
              </a:rPr>
              <a:t>pear</a:t>
            </a:r>
            <a:r>
              <a:rPr sz="1800" spc="-10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4376A9"/>
                </a:solidFill>
                <a:latin typeface="Courier New"/>
                <a:cs typeface="Courier New"/>
              </a:rPr>
              <a:t>$2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F87F9298-E99D-6ED4-9886-F5B92BE63418}"/>
              </a:ext>
            </a:extLst>
          </p:cNvPr>
          <p:cNvSpPr txBox="1"/>
          <p:nvPr/>
        </p:nvSpPr>
        <p:spPr>
          <a:xfrm>
            <a:off x="2997200" y="3434626"/>
            <a:ext cx="619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8733"/>
                </a:solidFill>
                <a:latin typeface="Courier New"/>
                <a:cs typeface="Courier New"/>
              </a:rPr>
              <a:t>echo</a:t>
            </a:r>
            <a:r>
              <a:rPr sz="1800" spc="-1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D6676"/>
                </a:solidFill>
                <a:latin typeface="Courier New"/>
                <a:cs typeface="Courier New"/>
              </a:rPr>
              <a:t>"</a:t>
            </a:r>
            <a:r>
              <a:rPr lang="en-US" sz="1800" dirty="0">
                <a:solidFill>
                  <a:srgbClr val="ED6676"/>
                </a:solidFill>
                <a:latin typeface="Courier New"/>
                <a:cs typeface="Courier New"/>
              </a:rPr>
              <a:t>I will compare 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dirty="0">
                <a:solidFill>
                  <a:srgbClr val="4376A9"/>
                </a:solidFill>
                <a:latin typeface="Courier New"/>
                <a:cs typeface="Courier New"/>
              </a:rPr>
              <a:t>apple</a:t>
            </a:r>
            <a:r>
              <a:rPr sz="1800" spc="-5" dirty="0">
                <a:solidFill>
                  <a:srgbClr val="4376A9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ED6676"/>
                </a:solidFill>
                <a:latin typeface="Courier New"/>
                <a:cs typeface="Courier New"/>
              </a:rPr>
              <a:t>with</a:t>
            </a:r>
            <a:r>
              <a:rPr sz="1800" spc="-5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spc="-10" dirty="0">
                <a:solidFill>
                  <a:srgbClr val="4376A9"/>
                </a:solidFill>
                <a:latin typeface="Courier New"/>
                <a:cs typeface="Courier New"/>
              </a:rPr>
              <a:t>pear</a:t>
            </a:r>
            <a:r>
              <a:rPr sz="1800" spc="-10" dirty="0">
                <a:solidFill>
                  <a:srgbClr val="ED6676"/>
                </a:solidFill>
                <a:latin typeface="Courier New"/>
                <a:cs typeface="Courier New"/>
              </a:rPr>
              <a:t>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E96AC71-ABB7-0403-C418-FA6F53A5DAD7}"/>
              </a:ext>
            </a:extLst>
          </p:cNvPr>
          <p:cNvSpPr txBox="1"/>
          <p:nvPr/>
        </p:nvSpPr>
        <p:spPr>
          <a:xfrm>
            <a:off x="2997200" y="4004868"/>
            <a:ext cx="6197600" cy="1543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sz="1800" dirty="0">
                <a:solidFill>
                  <a:srgbClr val="BABABA"/>
                </a:solidFill>
                <a:latin typeface="Courier New"/>
                <a:cs typeface="Courier New"/>
              </a:rPr>
              <a:t>#</a:t>
            </a:r>
            <a:r>
              <a:rPr sz="1800" spc="-5" dirty="0">
                <a:solidFill>
                  <a:srgbClr val="BABABA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BABABA"/>
                </a:solidFill>
                <a:latin typeface="Courier New"/>
                <a:cs typeface="Courier New"/>
              </a:rPr>
              <a:t>Here we compare the two variables </a:t>
            </a:r>
          </a:p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sz="1800" dirty="0">
                <a:solidFill>
                  <a:srgbClr val="218733"/>
                </a:solidFill>
                <a:latin typeface="Courier New"/>
                <a:cs typeface="Courier New"/>
              </a:rPr>
              <a:t>if</a:t>
            </a:r>
            <a:r>
              <a:rPr sz="1800" spc="-1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45454"/>
                </a:solidFill>
                <a:latin typeface="Courier New"/>
                <a:cs typeface="Courier New"/>
              </a:rPr>
              <a:t>[[</a:t>
            </a:r>
            <a:r>
              <a:rPr sz="1800" spc="-5" dirty="0">
                <a:solidFill>
                  <a:srgbClr val="54545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dirty="0">
                <a:solidFill>
                  <a:srgbClr val="4376A9"/>
                </a:solidFill>
                <a:latin typeface="Courier New"/>
                <a:cs typeface="Courier New"/>
              </a:rPr>
              <a:t>apple</a:t>
            </a:r>
            <a:r>
              <a:rPr sz="1800" spc="-5" dirty="0">
                <a:solidFill>
                  <a:srgbClr val="4376A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54545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dirty="0">
                <a:solidFill>
                  <a:srgbClr val="4376A9"/>
                </a:solidFill>
                <a:latin typeface="Courier New"/>
                <a:cs typeface="Courier New"/>
              </a:rPr>
              <a:t>pear</a:t>
            </a:r>
            <a:r>
              <a:rPr sz="1800" spc="-5" dirty="0">
                <a:solidFill>
                  <a:srgbClr val="4376A9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545454"/>
                </a:solidFill>
                <a:latin typeface="Courier New"/>
                <a:cs typeface="Courier New"/>
              </a:rPr>
              <a:t>]]</a:t>
            </a:r>
            <a:r>
              <a:rPr sz="1800" spc="-25" dirty="0">
                <a:latin typeface="Courier New"/>
                <a:cs typeface="Courier New"/>
              </a:rPr>
              <a:t>;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solidFill>
                  <a:srgbClr val="218733"/>
                </a:solidFill>
                <a:latin typeface="Courier New"/>
                <a:cs typeface="Courier New"/>
              </a:rPr>
              <a:t>then</a:t>
            </a:r>
            <a:r>
              <a:rPr sz="1800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376A9"/>
                </a:solidFill>
                <a:latin typeface="Courier New"/>
                <a:cs typeface="Courier New"/>
              </a:rPr>
              <a:t>result</a:t>
            </a:r>
            <a:r>
              <a:rPr sz="1800" spc="-10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lang="en-US" sz="1800" spc="-10" dirty="0">
                <a:latin typeface="Courier New"/>
                <a:cs typeface="Courier New"/>
              </a:rPr>
              <a:t>equal</a:t>
            </a:r>
            <a:endParaRPr sz="1800" dirty="0">
              <a:latin typeface="Courier New"/>
              <a:cs typeface="Courier New"/>
            </a:endParaRPr>
          </a:p>
          <a:p>
            <a:pPr marL="12700" marR="2611120">
              <a:lnSpc>
                <a:spcPts val="2340"/>
              </a:lnSpc>
              <a:spcBef>
                <a:spcPts val="100"/>
              </a:spcBef>
            </a:pPr>
            <a:r>
              <a:rPr sz="1800" dirty="0">
                <a:solidFill>
                  <a:srgbClr val="218733"/>
                </a:solidFill>
                <a:latin typeface="Courier New"/>
                <a:cs typeface="Courier New"/>
              </a:rPr>
              <a:t>else</a:t>
            </a:r>
            <a:r>
              <a:rPr sz="1800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result</a:t>
            </a:r>
            <a:r>
              <a:rPr sz="1800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sz="1800" dirty="0">
                <a:solidFill>
                  <a:srgbClr val="ED6676"/>
                </a:solidFill>
                <a:latin typeface="Courier New"/>
                <a:cs typeface="Courier New"/>
              </a:rPr>
              <a:t>"</a:t>
            </a:r>
            <a:r>
              <a:rPr lang="en-US" sz="1800" dirty="0">
                <a:solidFill>
                  <a:srgbClr val="ED6676"/>
                </a:solidFill>
                <a:latin typeface="Courier New"/>
                <a:cs typeface="Courier New"/>
              </a:rPr>
              <a:t>not equal</a:t>
            </a:r>
            <a:r>
              <a:rPr sz="1800" spc="-10" dirty="0">
                <a:solidFill>
                  <a:srgbClr val="ED6676"/>
                </a:solidFill>
                <a:latin typeface="Courier New"/>
                <a:cs typeface="Courier New"/>
              </a:rPr>
              <a:t>" </a:t>
            </a:r>
            <a:endParaRPr lang="en-US" sz="1800" spc="-10" dirty="0">
              <a:solidFill>
                <a:srgbClr val="ED6676"/>
              </a:solidFill>
              <a:latin typeface="Courier New"/>
              <a:cs typeface="Courier New"/>
            </a:endParaRPr>
          </a:p>
          <a:p>
            <a:pPr marL="12700" marR="2611120">
              <a:lnSpc>
                <a:spcPts val="2340"/>
              </a:lnSpc>
              <a:spcBef>
                <a:spcPts val="100"/>
              </a:spcBef>
            </a:pPr>
            <a:r>
              <a:rPr sz="1800" spc="-25" dirty="0">
                <a:solidFill>
                  <a:srgbClr val="218733"/>
                </a:solidFill>
                <a:latin typeface="Courier New"/>
                <a:cs typeface="Courier New"/>
              </a:rPr>
              <a:t>fi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DD0B093A-6A47-C2D1-F435-43BBEEBCE2EA}"/>
              </a:ext>
            </a:extLst>
          </p:cNvPr>
          <p:cNvSpPr txBox="1"/>
          <p:nvPr/>
        </p:nvSpPr>
        <p:spPr>
          <a:xfrm>
            <a:off x="2997200" y="5813513"/>
            <a:ext cx="5100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8733"/>
                </a:solidFill>
                <a:latin typeface="Courier New"/>
                <a:cs typeface="Courier New"/>
              </a:rPr>
              <a:t>echo</a:t>
            </a:r>
            <a:r>
              <a:rPr sz="1800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D6676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dirty="0">
                <a:solidFill>
                  <a:srgbClr val="4376A9"/>
                </a:solidFill>
                <a:latin typeface="Courier New"/>
                <a:cs typeface="Courier New"/>
              </a:rPr>
              <a:t>apple</a:t>
            </a:r>
            <a:r>
              <a:rPr sz="1800" spc="-5" dirty="0">
                <a:solidFill>
                  <a:srgbClr val="4376A9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ED6676"/>
                </a:solidFill>
                <a:latin typeface="Courier New"/>
                <a:cs typeface="Courier New"/>
              </a:rPr>
              <a:t>and</a:t>
            </a:r>
            <a:r>
              <a:rPr sz="1800" spc="-5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z="1800" dirty="0">
                <a:solidFill>
                  <a:srgbClr val="4376A9"/>
                </a:solidFill>
                <a:latin typeface="Courier New"/>
                <a:cs typeface="Courier New"/>
              </a:rPr>
              <a:t>pear</a:t>
            </a:r>
            <a:r>
              <a:rPr sz="1800" spc="-5" dirty="0">
                <a:solidFill>
                  <a:srgbClr val="4376A9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ED6676"/>
                </a:solidFill>
                <a:latin typeface="Courier New"/>
                <a:cs typeface="Courier New"/>
              </a:rPr>
              <a:t>are</a:t>
            </a:r>
            <a:r>
              <a:rPr sz="1800" spc="-5" dirty="0">
                <a:solidFill>
                  <a:srgbClr val="ED6676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376A9"/>
                </a:solidFill>
                <a:latin typeface="Courier New"/>
                <a:cs typeface="Courier New"/>
              </a:rPr>
              <a:t>$result</a:t>
            </a:r>
            <a:r>
              <a:rPr sz="1800" spc="-10" dirty="0">
                <a:solidFill>
                  <a:srgbClr val="ED6676"/>
                </a:solidFill>
                <a:latin typeface="Courier New"/>
                <a:cs typeface="Courier New"/>
              </a:rPr>
              <a:t>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7A35448-3E01-8CCA-5C8E-C7AB5A6E6E81}"/>
              </a:ext>
            </a:extLst>
          </p:cNvPr>
          <p:cNvSpPr txBox="1"/>
          <p:nvPr/>
        </p:nvSpPr>
        <p:spPr>
          <a:xfrm>
            <a:off x="7900404" y="1933804"/>
            <a:ext cx="2579370" cy="1195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Determines with which </a:t>
            </a:r>
            <a:r>
              <a:rPr lang="en-US" spc="-20" dirty="0">
                <a:latin typeface="Calibri"/>
                <a:cs typeface="Calibri"/>
              </a:rPr>
              <a:t>s</a:t>
            </a:r>
            <a:r>
              <a:rPr sz="1800" spc="-20" dirty="0">
                <a:latin typeface="Calibri"/>
                <a:cs typeface="Calibri"/>
              </a:rPr>
              <a:t>hell </a:t>
            </a:r>
            <a:r>
              <a:rPr lang="en-US" sz="1800" dirty="0">
                <a:latin typeface="Calibri"/>
                <a:cs typeface="Calibri"/>
              </a:rPr>
              <a:t>the script should be executed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lang="en-US" sz="1800" b="1" dirty="0">
                <a:latin typeface="Calibri"/>
                <a:cs typeface="Calibri"/>
              </a:rPr>
              <a:t>copy exactly this for now!</a:t>
            </a:r>
            <a:r>
              <a:rPr sz="1800" b="1" spc="-10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3" name="object 9">
            <a:extLst>
              <a:ext uri="{FF2B5EF4-FFF2-40B4-BE49-F238E27FC236}">
                <a16:creationId xmlns:a16="http://schemas.microsoft.com/office/drawing/2014/main" id="{5F2678C5-5383-594C-53BF-AB028D151B91}"/>
              </a:ext>
            </a:extLst>
          </p:cNvPr>
          <p:cNvGrpSpPr/>
          <p:nvPr/>
        </p:nvGrpSpPr>
        <p:grpSpPr>
          <a:xfrm>
            <a:off x="4622698" y="2076450"/>
            <a:ext cx="3200400" cy="100965"/>
            <a:chOff x="3566159" y="1019171"/>
            <a:chExt cx="3200400" cy="100965"/>
          </a:xfrm>
        </p:grpSpPr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CAD3E36F-3BE6-6932-5F46-186A2B3DEF62}"/>
                </a:ext>
              </a:extLst>
            </p:cNvPr>
            <p:cNvSpPr/>
            <p:nvPr/>
          </p:nvSpPr>
          <p:spPr>
            <a:xfrm>
              <a:off x="3639603" y="1069209"/>
              <a:ext cx="3127375" cy="0"/>
            </a:xfrm>
            <a:custGeom>
              <a:avLst/>
              <a:gdLst/>
              <a:ahLst/>
              <a:cxnLst/>
              <a:rect l="l" t="t" r="r" b="b"/>
              <a:pathLst>
                <a:path w="3127375">
                  <a:moveTo>
                    <a:pt x="3126955" y="0"/>
                  </a:moveTo>
                  <a:lnTo>
                    <a:pt x="0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C3D43C8F-00D8-2856-6F1D-78CA70AD329D}"/>
                </a:ext>
              </a:extLst>
            </p:cNvPr>
            <p:cNvSpPr/>
            <p:nvPr/>
          </p:nvSpPr>
          <p:spPr>
            <a:xfrm>
              <a:off x="3566159" y="1019171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5" h="100965">
                  <a:moveTo>
                    <a:pt x="80276" y="0"/>
                  </a:moveTo>
                  <a:lnTo>
                    <a:pt x="0" y="50037"/>
                  </a:lnTo>
                  <a:lnTo>
                    <a:pt x="80276" y="100431"/>
                  </a:lnTo>
                  <a:lnTo>
                    <a:pt x="80276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2">
            <a:extLst>
              <a:ext uri="{FF2B5EF4-FFF2-40B4-BE49-F238E27FC236}">
                <a16:creationId xmlns:a16="http://schemas.microsoft.com/office/drawing/2014/main" id="{948C20ED-55FE-0553-B443-31758C24B1F4}"/>
              </a:ext>
            </a:extLst>
          </p:cNvPr>
          <p:cNvSpPr txBox="1"/>
          <p:nvPr/>
        </p:nvSpPr>
        <p:spPr>
          <a:xfrm>
            <a:off x="1298004" y="3998391"/>
            <a:ext cx="1229995" cy="597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lang="en-US" sz="1800" spc="-25" dirty="0">
                <a:latin typeface="Calibri"/>
                <a:cs typeface="Calibri"/>
              </a:rPr>
              <a:t>Comments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with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190" dirty="0">
                <a:latin typeface="Calibri"/>
                <a:cs typeface="Calibri"/>
              </a:rPr>
              <a:t>#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5696E4A5-41AF-7284-7D57-98623DDF2D53}"/>
              </a:ext>
            </a:extLst>
          </p:cNvPr>
          <p:cNvGrpSpPr/>
          <p:nvPr/>
        </p:nvGrpSpPr>
        <p:grpSpPr>
          <a:xfrm>
            <a:off x="2606332" y="4116209"/>
            <a:ext cx="314325" cy="100965"/>
            <a:chOff x="1549793" y="3058930"/>
            <a:chExt cx="314325" cy="100965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61AF3CE9-A5BF-7B49-04DB-870D560E272F}"/>
                </a:ext>
              </a:extLst>
            </p:cNvPr>
            <p:cNvSpPr/>
            <p:nvPr/>
          </p:nvSpPr>
          <p:spPr>
            <a:xfrm>
              <a:off x="1549793" y="3108968"/>
              <a:ext cx="240665" cy="0"/>
            </a:xfrm>
            <a:custGeom>
              <a:avLst/>
              <a:gdLst/>
              <a:ahLst/>
              <a:cxnLst/>
              <a:rect l="l" t="t" r="r" b="b"/>
              <a:pathLst>
                <a:path w="240664">
                  <a:moveTo>
                    <a:pt x="0" y="0"/>
                  </a:moveTo>
                  <a:lnTo>
                    <a:pt x="240487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1A5D7311-A716-728B-7480-B4E8F418B96B}"/>
                </a:ext>
              </a:extLst>
            </p:cNvPr>
            <p:cNvSpPr/>
            <p:nvPr/>
          </p:nvSpPr>
          <p:spPr>
            <a:xfrm>
              <a:off x="1783435" y="3058930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4" h="100964">
                  <a:moveTo>
                    <a:pt x="0" y="0"/>
                  </a:moveTo>
                  <a:lnTo>
                    <a:pt x="0" y="100444"/>
                  </a:lnTo>
                  <a:lnTo>
                    <a:pt x="80289" y="50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7783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F438-D465-DF8E-68CD-F77F385C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What sorts of things can we use in a script?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DB47-BF92-A88A-DF4B-CC9F677DA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6071"/>
            <a:ext cx="5181600" cy="5215404"/>
          </a:xfrm>
        </p:spPr>
        <p:txBody>
          <a:bodyPr>
            <a:normAutofit fontScale="55000" lnSpcReduction="20000"/>
          </a:bodyPr>
          <a:lstStyle/>
          <a:p>
            <a:r>
              <a:rPr lang="en-US" sz="3300" dirty="0"/>
              <a:t>Variables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apple</a:t>
            </a:r>
          </a:p>
          <a:p>
            <a:r>
              <a:rPr lang="en-US" sz="3300" dirty="0"/>
              <a:t>Arguments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@</a:t>
            </a:r>
          </a:p>
          <a:p>
            <a:r>
              <a:rPr lang="en-US" sz="3300" dirty="0"/>
              <a:t>Arrays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4376A9"/>
                </a:solidFill>
                <a:latin typeface="Courier New"/>
                <a:cs typeface="Courier New"/>
              </a:rPr>
              <a:t>demoArray</a:t>
            </a:r>
            <a:r>
              <a:rPr lang="en-US" dirty="0">
                <a:solidFill>
                  <a:srgbClr val="545454"/>
                </a:solidFill>
                <a:latin typeface="Courier New"/>
                <a:cs typeface="Courier New"/>
              </a:rPr>
              <a:t>=(</a:t>
            </a:r>
            <a:r>
              <a:rPr lang="en-US" dirty="0">
                <a:latin typeface="Courier New"/>
                <a:cs typeface="Courier New"/>
              </a:rPr>
              <a:t>one</a:t>
            </a:r>
            <a:r>
              <a:rPr lang="en-US" spc="-5" dirty="0">
                <a:latin typeface="Courier New"/>
                <a:cs typeface="Courier New"/>
              </a:rPr>
              <a:t> </a:t>
            </a:r>
            <a:r>
              <a:rPr lang="en-US" dirty="0">
                <a:latin typeface="Courier New"/>
                <a:cs typeface="Courier New"/>
              </a:rPr>
              <a:t>two</a:t>
            </a:r>
            <a:r>
              <a:rPr lang="en-US" spc="-5" dirty="0">
                <a:latin typeface="Courier New"/>
                <a:cs typeface="Courier New"/>
              </a:rPr>
              <a:t> </a:t>
            </a:r>
            <a:r>
              <a:rPr lang="en-US" dirty="0">
                <a:latin typeface="Courier New"/>
                <a:cs typeface="Courier New"/>
              </a:rPr>
              <a:t>three</a:t>
            </a:r>
            <a:r>
              <a:rPr lang="en-US" spc="-5" dirty="0">
                <a:latin typeface="Courier New"/>
                <a:cs typeface="Courier New"/>
              </a:rPr>
              <a:t> </a:t>
            </a:r>
            <a:r>
              <a:rPr lang="en-US" dirty="0">
                <a:latin typeface="Courier New"/>
                <a:cs typeface="Courier New"/>
              </a:rPr>
              <a:t>four</a:t>
            </a:r>
            <a:r>
              <a:rPr lang="en-US" spc="-10" dirty="0">
                <a:solidFill>
                  <a:srgbClr val="545454"/>
                </a:solidFill>
                <a:latin typeface="Courier New"/>
                <a:cs typeface="Courier New"/>
              </a:rPr>
              <a:t>)</a:t>
            </a:r>
            <a:endParaRPr lang="en-US" dirty="0"/>
          </a:p>
          <a:p>
            <a:r>
              <a:rPr lang="en-US" sz="3300" dirty="0"/>
              <a:t>Command Substitution </a:t>
            </a:r>
          </a:p>
          <a:p>
            <a:pPr marL="0" indent="0">
              <a:buNone/>
            </a:pPr>
            <a:r>
              <a:rPr lang="en-US" spc="-10" dirty="0">
                <a:latin typeface="Courier New"/>
                <a:cs typeface="Courier New"/>
              </a:rPr>
              <a:t>$(</a:t>
            </a:r>
            <a:r>
              <a:rPr lang="en-US" spc="-10" dirty="0">
                <a:solidFill>
                  <a:srgbClr val="BABABA"/>
                </a:solidFill>
                <a:latin typeface="Courier New"/>
                <a:cs typeface="Courier New"/>
              </a:rPr>
              <a:t>&lt;command&gt;</a:t>
            </a:r>
            <a:r>
              <a:rPr lang="en-US" spc="-10" dirty="0">
                <a:latin typeface="Courier New"/>
                <a:cs typeface="Courier New"/>
              </a:rPr>
              <a:t>)</a:t>
            </a:r>
            <a:endParaRPr lang="en-US" dirty="0"/>
          </a:p>
          <a:p>
            <a:r>
              <a:rPr lang="en-US" sz="3300" dirty="0"/>
              <a:t>Arithmetic expressions </a:t>
            </a:r>
          </a:p>
          <a:p>
            <a:pPr marL="0" indent="0">
              <a:buNone/>
            </a:pPr>
            <a:r>
              <a:rPr lang="en-US" spc="-10" dirty="0">
                <a:latin typeface="Courier New"/>
                <a:cs typeface="Courier New"/>
              </a:rPr>
              <a:t>$((</a:t>
            </a:r>
            <a:r>
              <a:rPr lang="en-US" spc="-10" dirty="0">
                <a:solidFill>
                  <a:srgbClr val="BABABA"/>
                </a:solidFill>
                <a:latin typeface="Courier New"/>
                <a:cs typeface="Courier New"/>
              </a:rPr>
              <a:t>$1 + $2</a:t>
            </a:r>
            <a:r>
              <a:rPr lang="en-US" spc="-10" dirty="0">
                <a:latin typeface="Courier New"/>
                <a:cs typeface="Courier New"/>
              </a:rPr>
              <a:t>))$</a:t>
            </a:r>
            <a:endParaRPr lang="en-US" dirty="0"/>
          </a:p>
          <a:p>
            <a:r>
              <a:rPr lang="en-US" sz="3300" dirty="0"/>
              <a:t>If-else blocks </a:t>
            </a:r>
          </a:p>
          <a:p>
            <a:pPr marL="0" indent="0">
              <a:buNone/>
            </a:pPr>
            <a:r>
              <a:rPr lang="en-US" dirty="0">
                <a:solidFill>
                  <a:srgbClr val="218733"/>
                </a:solidFill>
                <a:latin typeface="Courier New"/>
                <a:cs typeface="Courier New"/>
              </a:rPr>
              <a:t>if</a:t>
            </a:r>
            <a:r>
              <a:rPr lang="en-US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545454"/>
                </a:solidFill>
                <a:latin typeface="Courier New"/>
                <a:cs typeface="Courier New"/>
              </a:rPr>
              <a:t>[[</a:t>
            </a:r>
            <a:r>
              <a:rPr lang="en-US" spc="-5" dirty="0">
                <a:solidFill>
                  <a:srgbClr val="545454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BABABA"/>
                </a:solidFill>
                <a:latin typeface="Courier New"/>
                <a:cs typeface="Courier New"/>
              </a:rPr>
              <a:t>&lt;Condition&gt;</a:t>
            </a:r>
            <a:r>
              <a:rPr lang="en-US" spc="-5" dirty="0">
                <a:solidFill>
                  <a:srgbClr val="BABABA"/>
                </a:solidFill>
                <a:latin typeface="Courier New"/>
                <a:cs typeface="Courier New"/>
              </a:rPr>
              <a:t> </a:t>
            </a:r>
            <a:r>
              <a:rPr lang="en-US" spc="-25" dirty="0">
                <a:solidFill>
                  <a:srgbClr val="545454"/>
                </a:solidFill>
                <a:latin typeface="Courier New"/>
                <a:cs typeface="Courier New"/>
              </a:rPr>
              <a:t>]]</a:t>
            </a:r>
          </a:p>
          <a:p>
            <a:pPr marL="0" indent="0">
              <a:buNone/>
            </a:pPr>
            <a:r>
              <a:rPr lang="en-US" dirty="0">
                <a:solidFill>
                  <a:srgbClr val="218733"/>
                </a:solidFill>
                <a:latin typeface="Courier New"/>
                <a:cs typeface="Courier New"/>
              </a:rPr>
              <a:t>  then</a:t>
            </a:r>
            <a:r>
              <a:rPr lang="en-US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lang="en-US" dirty="0">
                <a:solidFill>
                  <a:srgbClr val="BABABA"/>
                </a:solidFill>
                <a:latin typeface="Courier New"/>
                <a:cs typeface="Courier New"/>
              </a:rPr>
              <a:t>&lt;Do</a:t>
            </a:r>
            <a:r>
              <a:rPr lang="en-US" spc="-5" dirty="0">
                <a:solidFill>
                  <a:srgbClr val="BABABA"/>
                </a:solidFill>
                <a:latin typeface="Courier New"/>
                <a:cs typeface="Courier New"/>
              </a:rPr>
              <a:t> </a:t>
            </a:r>
            <a:r>
              <a:rPr lang="en-US" spc="-10" dirty="0">
                <a:solidFill>
                  <a:srgbClr val="BABABA"/>
                </a:solidFill>
                <a:latin typeface="Courier New"/>
                <a:cs typeface="Courier New"/>
              </a:rPr>
              <a:t>something&gt;</a:t>
            </a:r>
          </a:p>
          <a:p>
            <a:pPr marL="0" indent="0">
              <a:buNone/>
            </a:pPr>
            <a:r>
              <a:rPr lang="en-US" spc="-25" dirty="0">
                <a:solidFill>
                  <a:srgbClr val="218733"/>
                </a:solidFill>
                <a:latin typeface="Courier New"/>
                <a:cs typeface="Courier New"/>
              </a:rPr>
              <a:t>fi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BA24AA-6054-0496-603A-B5309FFB7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071"/>
            <a:ext cx="5513294" cy="5215404"/>
          </a:xfrm>
        </p:spPr>
        <p:txBody>
          <a:bodyPr>
            <a:normAutofit fontScale="55000" lnSpcReduction="20000"/>
          </a:bodyPr>
          <a:lstStyle/>
          <a:p>
            <a:r>
              <a:rPr lang="en-US" sz="3300" dirty="0"/>
              <a:t>Switch case</a:t>
            </a: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4376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spc="-5" dirty="0">
                <a:solidFill>
                  <a:srgbClr val="4376A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25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"A"</a:t>
            </a:r>
            <a:r>
              <a:rPr lang="en-US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pc="-5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”Apple"</a:t>
            </a:r>
            <a:r>
              <a:rPr lang="en-US" spc="-1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  <a:endParaRPr lang="en-US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"B"</a:t>
            </a:r>
            <a:r>
              <a:rPr lang="en-US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pc="-5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”Banana"</a:t>
            </a:r>
            <a:r>
              <a:rPr lang="en-US" spc="-1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  <a:endParaRPr lang="en-US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"C"</a:t>
            </a:r>
            <a:r>
              <a:rPr lang="en-US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pc="-5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"Cashew"</a:t>
            </a:r>
            <a:r>
              <a:rPr lang="en-US" spc="-1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  <a:endParaRPr lang="en-US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</a:t>
            </a:r>
            <a:r>
              <a:rPr lang="en-US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pc="-15" dirty="0">
                <a:solidFill>
                  <a:srgbClr val="54545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"A,</a:t>
            </a:r>
            <a:r>
              <a:rPr lang="en-US" spc="-5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pc="-5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pc="-5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pc="-10" dirty="0">
                <a:solidFill>
                  <a:srgbClr val="ED667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  <a:r>
              <a:rPr lang="en-US" spc="-1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 </a:t>
            </a: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spc="-20" dirty="0" err="1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esac</a:t>
            </a:r>
            <a:endParaRPr lang="en-US" dirty="0"/>
          </a:p>
          <a:p>
            <a:r>
              <a:rPr lang="en-US" sz="3300" dirty="0"/>
              <a:t>While </a:t>
            </a:r>
            <a:r>
              <a:rPr lang="en-US" sz="3300" spc="-10" dirty="0">
                <a:cs typeface="Courier New"/>
              </a:rPr>
              <a:t>loop</a:t>
            </a:r>
            <a:endParaRPr lang="en-US" sz="3600" spc="-10" dirty="0">
              <a:cs typeface="Courier New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Command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Something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spc="-20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en-US" dirty="0"/>
          </a:p>
          <a:p>
            <a:r>
              <a:rPr lang="en-US" sz="3300" dirty="0"/>
              <a:t>For-each loop</a:t>
            </a:r>
          </a:p>
          <a:p>
            <a:pPr marL="164465" marR="5080" indent="0">
              <a:lnSpc>
                <a:spcPct val="108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pc="-30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String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marL="164465" marR="5080" indent="0">
              <a:lnSpc>
                <a:spcPct val="108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do</a:t>
            </a:r>
            <a:r>
              <a:rPr lang="en-US" spc="-5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900" spc="-10" dirty="0">
                <a:solidFill>
                  <a:srgbClr val="BABABA"/>
                </a:solidFill>
                <a:latin typeface="Courier New"/>
                <a:cs typeface="Courier New"/>
              </a:rPr>
              <a:t>Something</a:t>
            </a:r>
            <a:r>
              <a:rPr lang="en-US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64465" marR="5080" indent="0">
              <a:lnSpc>
                <a:spcPct val="108000"/>
              </a:lnSpc>
              <a:spcBef>
                <a:spcPts val="100"/>
              </a:spcBef>
              <a:buNone/>
            </a:pPr>
            <a:r>
              <a:rPr lang="en-US" spc="-20" dirty="0">
                <a:solidFill>
                  <a:srgbClr val="2187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en-US" dirty="0"/>
          </a:p>
          <a:p>
            <a:r>
              <a:rPr lang="en-US" sz="3300" dirty="0"/>
              <a:t>C-Style loops</a:t>
            </a:r>
          </a:p>
          <a:p>
            <a:pPr marL="12065" marR="5080" indent="0">
              <a:lnSpc>
                <a:spcPct val="108300"/>
              </a:lnSpc>
              <a:spcBef>
                <a:spcPts val="100"/>
              </a:spcBef>
              <a:buNone/>
              <a:tabLst>
                <a:tab pos="2359660" algn="l"/>
              </a:tabLst>
            </a:pPr>
            <a:r>
              <a:rPr lang="en-US" dirty="0">
                <a:solidFill>
                  <a:srgbClr val="218733"/>
                </a:solidFill>
                <a:latin typeface="Courier New"/>
                <a:cs typeface="Courier New"/>
              </a:rPr>
              <a:t>for</a:t>
            </a:r>
            <a:r>
              <a:rPr lang="en-US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lang="en-US" spc="-10" dirty="0">
                <a:solidFill>
                  <a:srgbClr val="545454"/>
                </a:solidFill>
                <a:latin typeface="Courier New"/>
                <a:cs typeface="Courier New"/>
              </a:rPr>
              <a:t>((</a:t>
            </a:r>
            <a:r>
              <a:rPr lang="en-US" spc="-10" dirty="0" err="1">
                <a:solidFill>
                  <a:srgbClr val="4376A9"/>
                </a:solidFill>
                <a:latin typeface="Courier New"/>
                <a:cs typeface="Courier New"/>
              </a:rPr>
              <a:t>i</a:t>
            </a:r>
            <a:r>
              <a:rPr lang="en-US" spc="-10" dirty="0">
                <a:solidFill>
                  <a:srgbClr val="545454"/>
                </a:solidFill>
                <a:latin typeface="Courier New"/>
                <a:cs typeface="Courier New"/>
              </a:rPr>
              <a:t>=0</a:t>
            </a:r>
            <a:r>
              <a:rPr lang="en-US" spc="-10" dirty="0">
                <a:latin typeface="Courier New"/>
                <a:cs typeface="Courier New"/>
              </a:rPr>
              <a:t>;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&lt;</a:t>
            </a:r>
            <a:r>
              <a:rPr lang="en-US" dirty="0">
                <a:solidFill>
                  <a:srgbClr val="545454"/>
                </a:solidFill>
                <a:latin typeface="Courier New"/>
                <a:cs typeface="Courier New"/>
              </a:rPr>
              <a:t>=</a:t>
            </a:r>
            <a:r>
              <a:rPr lang="en-US" dirty="0">
                <a:latin typeface="Courier New"/>
                <a:cs typeface="Courier New"/>
              </a:rPr>
              <a:t>n;</a:t>
            </a:r>
            <a:r>
              <a:rPr lang="en-US" spc="-10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++</a:t>
            </a:r>
            <a:r>
              <a:rPr lang="en-US" dirty="0">
                <a:solidFill>
                  <a:srgbClr val="545454"/>
                </a:solidFill>
                <a:latin typeface="Courier New"/>
                <a:cs typeface="Courier New"/>
              </a:rPr>
              <a:t>))</a:t>
            </a:r>
            <a:r>
              <a:rPr lang="en-US" spc="-5" dirty="0">
                <a:solidFill>
                  <a:srgbClr val="545454"/>
                </a:solidFill>
                <a:latin typeface="Courier New"/>
                <a:cs typeface="Courier New"/>
              </a:rPr>
              <a:t> </a:t>
            </a:r>
            <a:r>
              <a:rPr lang="en-US" spc="-25" dirty="0">
                <a:solidFill>
                  <a:srgbClr val="218733"/>
                </a:solidFill>
                <a:latin typeface="Courier New"/>
                <a:cs typeface="Courier New"/>
              </a:rPr>
              <a:t>do </a:t>
            </a:r>
          </a:p>
          <a:p>
            <a:pPr marL="12065" marR="5080" indent="0">
              <a:lnSpc>
                <a:spcPct val="108300"/>
              </a:lnSpc>
              <a:spcBef>
                <a:spcPts val="100"/>
              </a:spcBef>
              <a:buNone/>
              <a:tabLst>
                <a:tab pos="2359660" algn="l"/>
              </a:tabLst>
            </a:pPr>
            <a:r>
              <a:rPr lang="en-US" dirty="0">
                <a:solidFill>
                  <a:srgbClr val="218733"/>
                </a:solidFill>
                <a:latin typeface="Courier New"/>
                <a:cs typeface="Courier New"/>
              </a:rPr>
              <a:t>   echo</a:t>
            </a:r>
            <a:r>
              <a:rPr lang="en-US" spc="-5" dirty="0">
                <a:solidFill>
                  <a:srgbClr val="218733"/>
                </a:solidFill>
                <a:latin typeface="Courier New"/>
                <a:cs typeface="Courier New"/>
              </a:rPr>
              <a:t> </a:t>
            </a:r>
            <a:r>
              <a:rPr lang="en-US" spc="-25" dirty="0">
                <a:solidFill>
                  <a:srgbClr val="4376A9"/>
                </a:solidFill>
                <a:latin typeface="Courier New"/>
                <a:cs typeface="Courier New"/>
              </a:rPr>
              <a:t>$</a:t>
            </a:r>
            <a:r>
              <a:rPr lang="en-US" spc="-25" dirty="0" err="1">
                <a:solidFill>
                  <a:srgbClr val="4376A9"/>
                </a:solidFill>
                <a:latin typeface="Courier New"/>
                <a:cs typeface="Courier New"/>
              </a:rPr>
              <a:t>i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280"/>
              </a:spcBef>
              <a:buNone/>
            </a:pPr>
            <a:r>
              <a:rPr lang="en-US" spc="-20" dirty="0">
                <a:solidFill>
                  <a:srgbClr val="218733"/>
                </a:solidFill>
                <a:latin typeface="Courier New"/>
                <a:cs typeface="Courier New"/>
              </a:rPr>
              <a:t>done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E1DB4-D449-7522-FDE7-24CFD445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07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F62F-6F2D-D94B-2BA8-51C00B8A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80944-17D1-7224-326A-7BB3481D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3BBF6BBC-C3F8-401E-3C9C-262FBFF1BC53}"/>
              </a:ext>
            </a:extLst>
          </p:cNvPr>
          <p:cNvGrpSpPr/>
          <p:nvPr/>
        </p:nvGrpSpPr>
        <p:grpSpPr>
          <a:xfrm>
            <a:off x="4911751" y="4083606"/>
            <a:ext cx="2372507" cy="382270"/>
            <a:chOff x="4615916" y="2894770"/>
            <a:chExt cx="1737360" cy="382270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24F670F-7438-9BC0-5297-C0E44949ADE5}"/>
                </a:ext>
              </a:extLst>
            </p:cNvPr>
            <p:cNvSpPr/>
            <p:nvPr/>
          </p:nvSpPr>
          <p:spPr>
            <a:xfrm>
              <a:off x="4626000" y="2972532"/>
              <a:ext cx="1717675" cy="0"/>
            </a:xfrm>
            <a:custGeom>
              <a:avLst/>
              <a:gdLst/>
              <a:ahLst/>
              <a:cxnLst/>
              <a:rect l="l" t="t" r="r" b="b"/>
              <a:pathLst>
                <a:path w="1717675">
                  <a:moveTo>
                    <a:pt x="0" y="0"/>
                  </a:moveTo>
                  <a:lnTo>
                    <a:pt x="1717205" y="0"/>
                  </a:lnTo>
                </a:path>
              </a:pathLst>
            </a:custGeom>
            <a:ln w="1835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9B1CF49B-7C1C-B425-00BE-D1C92E9F56C7}"/>
                </a:ext>
              </a:extLst>
            </p:cNvPr>
            <p:cNvSpPr/>
            <p:nvPr/>
          </p:nvSpPr>
          <p:spPr>
            <a:xfrm>
              <a:off x="4615916" y="2894770"/>
              <a:ext cx="1737360" cy="155575"/>
            </a:xfrm>
            <a:custGeom>
              <a:avLst/>
              <a:gdLst/>
              <a:ahLst/>
              <a:cxnLst/>
              <a:rect l="l" t="t" r="r" b="b"/>
              <a:pathLst>
                <a:path w="173736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1737360" h="155575">
                  <a:moveTo>
                    <a:pt x="1737360" y="0"/>
                  </a:moveTo>
                  <a:lnTo>
                    <a:pt x="1716849" y="0"/>
                  </a:lnTo>
                  <a:lnTo>
                    <a:pt x="1716849" y="155524"/>
                  </a:lnTo>
                  <a:lnTo>
                    <a:pt x="1737360" y="15552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C104690-09F4-A9C9-C34B-55FBD0D13EBA}"/>
                </a:ext>
              </a:extLst>
            </p:cNvPr>
            <p:cNvSpPr/>
            <p:nvPr/>
          </p:nvSpPr>
          <p:spPr>
            <a:xfrm>
              <a:off x="5484596" y="2972532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39">
                  <a:moveTo>
                    <a:pt x="0" y="0"/>
                  </a:moveTo>
                  <a:lnTo>
                    <a:pt x="0" y="230758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6B7A7936-E4FE-C837-241A-03B9D06673A9}"/>
                </a:ext>
              </a:extLst>
            </p:cNvPr>
            <p:cNvSpPr/>
            <p:nvPr/>
          </p:nvSpPr>
          <p:spPr>
            <a:xfrm>
              <a:off x="5434558" y="3196446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5">
                  <a:moveTo>
                    <a:pt x="100444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44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8">
            <a:extLst>
              <a:ext uri="{FF2B5EF4-FFF2-40B4-BE49-F238E27FC236}">
                <a16:creationId xmlns:a16="http://schemas.microsoft.com/office/drawing/2014/main" id="{F3265FE6-0C5F-FEB6-B6E8-C3C3C1A2378F}"/>
              </a:ext>
            </a:extLst>
          </p:cNvPr>
          <p:cNvGrpSpPr/>
          <p:nvPr/>
        </p:nvGrpSpPr>
        <p:grpSpPr>
          <a:xfrm>
            <a:off x="7438311" y="4083606"/>
            <a:ext cx="1235044" cy="382270"/>
            <a:chOff x="6523913" y="2894770"/>
            <a:chExt cx="847090" cy="382270"/>
          </a:xfrm>
        </p:grpSpPr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6CF4D6FD-5D6A-56EA-8B61-31D9771EB838}"/>
                </a:ext>
              </a:extLst>
            </p:cNvPr>
            <p:cNvSpPr/>
            <p:nvPr/>
          </p:nvSpPr>
          <p:spPr>
            <a:xfrm>
              <a:off x="6533997" y="2972532"/>
              <a:ext cx="826769" cy="0"/>
            </a:xfrm>
            <a:custGeom>
              <a:avLst/>
              <a:gdLst/>
              <a:ahLst/>
              <a:cxnLst/>
              <a:rect l="l" t="t" r="r" b="b"/>
              <a:pathLst>
                <a:path w="826770">
                  <a:moveTo>
                    <a:pt x="0" y="0"/>
                  </a:moveTo>
                  <a:lnTo>
                    <a:pt x="826566" y="0"/>
                  </a:lnTo>
                </a:path>
              </a:pathLst>
            </a:custGeom>
            <a:ln w="1835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DC27502-610E-1A13-1DD9-BC002222FAF3}"/>
                </a:ext>
              </a:extLst>
            </p:cNvPr>
            <p:cNvSpPr/>
            <p:nvPr/>
          </p:nvSpPr>
          <p:spPr>
            <a:xfrm>
              <a:off x="6523901" y="2894770"/>
              <a:ext cx="847090" cy="155575"/>
            </a:xfrm>
            <a:custGeom>
              <a:avLst/>
              <a:gdLst/>
              <a:ahLst/>
              <a:cxnLst/>
              <a:rect l="l" t="t" r="r" b="b"/>
              <a:pathLst>
                <a:path w="847090" h="155575">
                  <a:moveTo>
                    <a:pt x="20523" y="0"/>
                  </a:moveTo>
                  <a:lnTo>
                    <a:pt x="0" y="0"/>
                  </a:lnTo>
                  <a:lnTo>
                    <a:pt x="0" y="155524"/>
                  </a:lnTo>
                  <a:lnTo>
                    <a:pt x="20523" y="155524"/>
                  </a:lnTo>
                  <a:lnTo>
                    <a:pt x="20523" y="0"/>
                  </a:lnTo>
                  <a:close/>
                </a:path>
                <a:path w="847090" h="155575">
                  <a:moveTo>
                    <a:pt x="846734" y="0"/>
                  </a:moveTo>
                  <a:lnTo>
                    <a:pt x="826223" y="0"/>
                  </a:lnTo>
                  <a:lnTo>
                    <a:pt x="826223" y="155524"/>
                  </a:lnTo>
                  <a:lnTo>
                    <a:pt x="846734" y="155524"/>
                  </a:lnTo>
                  <a:lnTo>
                    <a:pt x="846734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F925D044-D7A8-B5FB-EEBA-72338BFABD46}"/>
                </a:ext>
              </a:extLst>
            </p:cNvPr>
            <p:cNvSpPr/>
            <p:nvPr/>
          </p:nvSpPr>
          <p:spPr>
            <a:xfrm>
              <a:off x="6947280" y="2972532"/>
              <a:ext cx="0" cy="231140"/>
            </a:xfrm>
            <a:custGeom>
              <a:avLst/>
              <a:gdLst/>
              <a:ahLst/>
              <a:cxnLst/>
              <a:rect l="l" t="t" r="r" b="b"/>
              <a:pathLst>
                <a:path h="231139">
                  <a:moveTo>
                    <a:pt x="0" y="0"/>
                  </a:moveTo>
                  <a:lnTo>
                    <a:pt x="0" y="230758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4FE8C8A3-34D2-3D26-8936-A4D4547FDD0A}"/>
                </a:ext>
              </a:extLst>
            </p:cNvPr>
            <p:cNvSpPr/>
            <p:nvPr/>
          </p:nvSpPr>
          <p:spPr>
            <a:xfrm>
              <a:off x="6897242" y="3196446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5" h="80645">
                  <a:moveTo>
                    <a:pt x="100431" y="0"/>
                  </a:moveTo>
                  <a:lnTo>
                    <a:pt x="0" y="0"/>
                  </a:lnTo>
                  <a:lnTo>
                    <a:pt x="50037" y="80276"/>
                  </a:lnTo>
                  <a:lnTo>
                    <a:pt x="100431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3">
            <a:extLst>
              <a:ext uri="{FF2B5EF4-FFF2-40B4-BE49-F238E27FC236}">
                <a16:creationId xmlns:a16="http://schemas.microsoft.com/office/drawing/2014/main" id="{A9B7A9EA-A446-CA4D-1B26-3FAA3849298A}"/>
              </a:ext>
            </a:extLst>
          </p:cNvPr>
          <p:cNvSpPr/>
          <p:nvPr/>
        </p:nvSpPr>
        <p:spPr>
          <a:xfrm>
            <a:off x="5445159" y="5061098"/>
            <a:ext cx="2537460" cy="685800"/>
          </a:xfrm>
          <a:custGeom>
            <a:avLst/>
            <a:gdLst/>
            <a:ahLst/>
            <a:cxnLst/>
            <a:rect l="l" t="t" r="r" b="b"/>
            <a:pathLst>
              <a:path w="2537459" h="685800">
                <a:moveTo>
                  <a:pt x="2537282" y="0"/>
                </a:moveTo>
                <a:lnTo>
                  <a:pt x="0" y="355"/>
                </a:lnTo>
                <a:lnTo>
                  <a:pt x="0" y="685444"/>
                </a:lnTo>
                <a:lnTo>
                  <a:pt x="1268641" y="685076"/>
                </a:lnTo>
                <a:lnTo>
                  <a:pt x="2537282" y="685076"/>
                </a:lnTo>
                <a:lnTo>
                  <a:pt x="2537282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en-US" sz="2000" dirty="0"/>
              <a:t>N-</a:t>
            </a:r>
            <a:r>
              <a:rPr lang="en-US" sz="2000" dirty="0" err="1"/>
              <a:t>th</a:t>
            </a:r>
            <a:r>
              <a:rPr lang="en-US" sz="2000" dirty="0"/>
              <a:t> argument referenced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$n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" name="object 14">
            <a:extLst>
              <a:ext uri="{FF2B5EF4-FFF2-40B4-BE49-F238E27FC236}">
                <a16:creationId xmlns:a16="http://schemas.microsoft.com/office/drawing/2014/main" id="{93B30CE7-46DC-1470-005F-225970C086FC}"/>
              </a:ext>
            </a:extLst>
          </p:cNvPr>
          <p:cNvGrpSpPr/>
          <p:nvPr/>
        </p:nvGrpSpPr>
        <p:grpSpPr>
          <a:xfrm>
            <a:off x="4911751" y="3659512"/>
            <a:ext cx="4393613" cy="164951"/>
            <a:chOff x="4615916" y="2480052"/>
            <a:chExt cx="3348990" cy="155575"/>
          </a:xfrm>
        </p:grpSpPr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D4D13265-2ED3-27C8-F74B-23C14B0ED0D8}"/>
                </a:ext>
              </a:extLst>
            </p:cNvPr>
            <p:cNvSpPr/>
            <p:nvPr/>
          </p:nvSpPr>
          <p:spPr>
            <a:xfrm>
              <a:off x="4626000" y="2557814"/>
              <a:ext cx="3329304" cy="0"/>
            </a:xfrm>
            <a:custGeom>
              <a:avLst/>
              <a:gdLst/>
              <a:ahLst/>
              <a:cxnLst/>
              <a:rect l="l" t="t" r="r" b="b"/>
              <a:pathLst>
                <a:path w="3329304">
                  <a:moveTo>
                    <a:pt x="0" y="0"/>
                  </a:moveTo>
                  <a:lnTo>
                    <a:pt x="3329279" y="0"/>
                  </a:lnTo>
                </a:path>
              </a:pathLst>
            </a:custGeom>
            <a:ln w="1835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189EC6E9-5C10-73E3-F501-E4A9DD13FCC7}"/>
                </a:ext>
              </a:extLst>
            </p:cNvPr>
            <p:cNvSpPr/>
            <p:nvPr/>
          </p:nvSpPr>
          <p:spPr>
            <a:xfrm>
              <a:off x="4615916" y="2480052"/>
              <a:ext cx="20955" cy="155575"/>
            </a:xfrm>
            <a:custGeom>
              <a:avLst/>
              <a:gdLst/>
              <a:ahLst/>
              <a:cxnLst/>
              <a:rect l="l" t="t" r="r" b="b"/>
              <a:pathLst>
                <a:path w="20954" h="155575">
                  <a:moveTo>
                    <a:pt x="20523" y="0"/>
                  </a:moveTo>
                  <a:lnTo>
                    <a:pt x="0" y="0"/>
                  </a:lnTo>
                  <a:lnTo>
                    <a:pt x="0" y="155511"/>
                  </a:lnTo>
                  <a:lnTo>
                    <a:pt x="20523" y="155511"/>
                  </a:lnTo>
                  <a:lnTo>
                    <a:pt x="20523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498D9206-F3F1-1E8F-719F-A129491328D9}"/>
              </a:ext>
            </a:extLst>
          </p:cNvPr>
          <p:cNvSpPr/>
          <p:nvPr/>
        </p:nvSpPr>
        <p:spPr>
          <a:xfrm>
            <a:off x="5346994" y="2332200"/>
            <a:ext cx="2468880" cy="685800"/>
          </a:xfrm>
          <a:custGeom>
            <a:avLst/>
            <a:gdLst/>
            <a:ahLst/>
            <a:cxnLst/>
            <a:rect l="l" t="t" r="r" b="b"/>
            <a:pathLst>
              <a:path w="2468879" h="685800">
                <a:moveTo>
                  <a:pt x="2468880" y="0"/>
                </a:moveTo>
                <a:lnTo>
                  <a:pt x="0" y="368"/>
                </a:lnTo>
                <a:lnTo>
                  <a:pt x="0" y="685444"/>
                </a:lnTo>
                <a:lnTo>
                  <a:pt x="1234439" y="685088"/>
                </a:lnTo>
                <a:lnTo>
                  <a:pt x="2468880" y="685088"/>
                </a:lnTo>
                <a:lnTo>
                  <a:pt x="2468880" y="0"/>
                </a:lnTo>
                <a:close/>
              </a:path>
            </a:pathLst>
          </a:custGeom>
          <a:solidFill>
            <a:srgbClr val="BABABA">
              <a:alpha val="50000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en-US" sz="2000" dirty="0"/>
              <a:t>All arguments referenced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$@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B7CF6B6-130A-4A4D-F148-D00E2895FF13}"/>
              </a:ext>
            </a:extLst>
          </p:cNvPr>
          <p:cNvSpPr txBox="1"/>
          <p:nvPr/>
        </p:nvSpPr>
        <p:spPr>
          <a:xfrm>
            <a:off x="1788620" y="3511014"/>
            <a:ext cx="7504147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bash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myScript.sh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"dummy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input"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dummy2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25" dirty="0">
                <a:solidFill>
                  <a:srgbClr val="DCDCDC"/>
                </a:solidFill>
                <a:latin typeface="Courier New"/>
                <a:cs typeface="Courier New"/>
              </a:rPr>
              <a:t>...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800" dirty="0">
              <a:latin typeface="Courier New"/>
              <a:cs typeface="Courier New"/>
            </a:endParaRPr>
          </a:p>
          <a:p>
            <a:pPr marR="66675" algn="r">
              <a:lnSpc>
                <a:spcPct val="100000"/>
              </a:lnSpc>
              <a:tabLst>
                <a:tab pos="1462405" algn="l"/>
                <a:tab pos="2225040" algn="l"/>
              </a:tabLst>
            </a:pPr>
            <a:r>
              <a:rPr sz="1800" dirty="0">
                <a:latin typeface="Courier New"/>
                <a:cs typeface="Courier New"/>
              </a:rPr>
              <a:t>		</a:t>
            </a:r>
            <a:r>
              <a:rPr sz="1800" spc="-25" dirty="0">
                <a:solidFill>
                  <a:srgbClr val="DCDCDC"/>
                </a:solidFill>
                <a:latin typeface="Courier New"/>
                <a:cs typeface="Courier New"/>
              </a:rPr>
              <a:t>$3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21" name="object 19">
            <a:extLst>
              <a:ext uri="{FF2B5EF4-FFF2-40B4-BE49-F238E27FC236}">
                <a16:creationId xmlns:a16="http://schemas.microsoft.com/office/drawing/2014/main" id="{1AE98BA9-214A-B113-56DA-D7921A6BF53C}"/>
              </a:ext>
            </a:extLst>
          </p:cNvPr>
          <p:cNvGrpSpPr/>
          <p:nvPr/>
        </p:nvGrpSpPr>
        <p:grpSpPr>
          <a:xfrm>
            <a:off x="6531396" y="3468367"/>
            <a:ext cx="100965" cy="278765"/>
            <a:chOff x="6235560" y="2279531"/>
            <a:chExt cx="100965" cy="278765"/>
          </a:xfrm>
        </p:grpSpPr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442B4706-9C5E-51E9-7490-A1F708BE7219}"/>
                </a:ext>
              </a:extLst>
            </p:cNvPr>
            <p:cNvSpPr/>
            <p:nvPr/>
          </p:nvSpPr>
          <p:spPr>
            <a:xfrm>
              <a:off x="6285598" y="2352963"/>
              <a:ext cx="0" cy="205104"/>
            </a:xfrm>
            <a:custGeom>
              <a:avLst/>
              <a:gdLst/>
              <a:ahLst/>
              <a:cxnLst/>
              <a:rect l="l" t="t" r="r" b="b"/>
              <a:pathLst>
                <a:path h="205105">
                  <a:moveTo>
                    <a:pt x="0" y="204851"/>
                  </a:moveTo>
                  <a:lnTo>
                    <a:pt x="0" y="0"/>
                  </a:lnTo>
                </a:path>
              </a:pathLst>
            </a:custGeom>
            <a:ln w="18359">
              <a:solidFill>
                <a:srgbClr val="66C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6358599F-10FB-5D2D-B526-828AAA3ABE42}"/>
                </a:ext>
              </a:extLst>
            </p:cNvPr>
            <p:cNvSpPr/>
            <p:nvPr/>
          </p:nvSpPr>
          <p:spPr>
            <a:xfrm>
              <a:off x="6235560" y="2279531"/>
              <a:ext cx="100965" cy="80645"/>
            </a:xfrm>
            <a:custGeom>
              <a:avLst/>
              <a:gdLst/>
              <a:ahLst/>
              <a:cxnLst/>
              <a:rect l="l" t="t" r="r" b="b"/>
              <a:pathLst>
                <a:path w="100964" h="80644">
                  <a:moveTo>
                    <a:pt x="50037" y="0"/>
                  </a:moveTo>
                  <a:lnTo>
                    <a:pt x="0" y="80276"/>
                  </a:lnTo>
                  <a:lnTo>
                    <a:pt x="100444" y="8027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66C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A244FF4-BD88-6F6E-FD15-8EA1E44D0920}"/>
              </a:ext>
            </a:extLst>
          </p:cNvPr>
          <p:cNvSpPr txBox="1"/>
          <p:nvPr/>
        </p:nvSpPr>
        <p:spPr>
          <a:xfrm>
            <a:off x="6351243" y="311491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$@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9A765F-4E4B-AA3A-C1B0-56BEB71C3116}"/>
              </a:ext>
            </a:extLst>
          </p:cNvPr>
          <p:cNvSpPr txBox="1"/>
          <p:nvPr/>
        </p:nvSpPr>
        <p:spPr>
          <a:xfrm>
            <a:off x="5890861" y="4462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EF6358-EE70-8F7C-D7F5-908ACBFCD17A}"/>
              </a:ext>
            </a:extLst>
          </p:cNvPr>
          <p:cNvSpPr txBox="1"/>
          <p:nvPr/>
        </p:nvSpPr>
        <p:spPr>
          <a:xfrm>
            <a:off x="7825382" y="4462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</a:p>
        </p:txBody>
      </p:sp>
    </p:spTree>
    <p:extLst>
      <p:ext uri="{BB962C8B-B14F-4D97-AF65-F5344CB8AC3E}">
        <p14:creationId xmlns:p14="http://schemas.microsoft.com/office/powerpoint/2010/main" val="1034957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B831-7ED2-FBCA-62BB-A4CDE8AF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1836-2A1A-CD93-77B2-3EBB73FAF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hlinkClick r:id="rId2"/>
              </a:rPr>
              <a:t>https://tinyurl.com/CompBioSocBash</a:t>
            </a:r>
            <a:r>
              <a:rPr lang="en-US" sz="4400" dirty="0"/>
              <a:t> 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FDE38-599F-C85B-2CEA-3BA5CCD9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182C4-1A2B-5E05-28C0-D472A870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157" y="3092824"/>
            <a:ext cx="2730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16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97C4-ECF1-EFD1-9A4D-6F4F4D2A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3637D-56CB-4621-5DC7-56A3A680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ACD20-AD55-5C0C-5A53-BC90B84D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8D500F-1B8A-8341-D277-7B706B9CD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262" y="68262"/>
            <a:ext cx="6721475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2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6A92-A270-0734-2F82-20526E27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Vim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9727-FDE1-3679-070E-F5290BDC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powerful but complex text editor inside the command line</a:t>
            </a:r>
          </a:p>
          <a:p>
            <a:r>
              <a:rPr lang="en-US" dirty="0"/>
              <a:t>High learning curve! </a:t>
            </a:r>
          </a:p>
          <a:p>
            <a:r>
              <a:rPr lang="en-US" dirty="0"/>
              <a:t>Introduction to Vim: </a:t>
            </a:r>
            <a:r>
              <a:rPr lang="en-US" dirty="0">
                <a:hlinkClick r:id="rId2"/>
              </a:rPr>
              <a:t>read this</a:t>
            </a:r>
            <a:endParaRPr lang="en-US" dirty="0"/>
          </a:p>
          <a:p>
            <a:r>
              <a:rPr lang="en-US" dirty="0"/>
              <a:t>If you want to practice your Vim skills in a fun way, check out this game: </a:t>
            </a:r>
            <a:r>
              <a:rPr lang="en-US" dirty="0">
                <a:hlinkClick r:id="rId3"/>
              </a:rPr>
              <a:t>https://vim-adventures.com/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1935-0337-AA72-BA39-85396A3B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75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780E-9849-2374-58AB-4F5D4ADF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83A42-B528-222F-6853-1FA53908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content partly from: </a:t>
            </a:r>
            <a:r>
              <a:rPr lang="en-US" dirty="0" err="1"/>
              <a:t>Bioinformatik</a:t>
            </a:r>
            <a:r>
              <a:rPr lang="en-US" dirty="0"/>
              <a:t> </a:t>
            </a:r>
            <a:r>
              <a:rPr lang="en-US" dirty="0" err="1"/>
              <a:t>Tutorium</a:t>
            </a:r>
            <a:r>
              <a:rPr lang="en-US" dirty="0"/>
              <a:t> “</a:t>
            </a:r>
            <a:r>
              <a:rPr lang="en-US" dirty="0" err="1"/>
              <a:t>Einführung</a:t>
            </a:r>
            <a:r>
              <a:rPr lang="en-US" dirty="0"/>
              <a:t> in die Shell” and “Bash Scripting” Slides from Thomas </a:t>
            </a:r>
            <a:r>
              <a:rPr lang="en-US" dirty="0" err="1"/>
              <a:t>Mauermeier</a:t>
            </a:r>
            <a:r>
              <a:rPr lang="en-US" dirty="0"/>
              <a:t> (2020), Ludwig-</a:t>
            </a:r>
            <a:r>
              <a:rPr lang="en-US" dirty="0" err="1"/>
              <a:t>Maximilians</a:t>
            </a:r>
            <a:r>
              <a:rPr lang="en-US" dirty="0"/>
              <a:t>-Universität </a:t>
            </a:r>
            <a:r>
              <a:rPr lang="en-US" dirty="0" err="1"/>
              <a:t>München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Command Line Cheat Sheet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Bash Scripting Cheat Sheet</a:t>
            </a:r>
            <a:endParaRPr lang="en-US" dirty="0"/>
          </a:p>
          <a:p>
            <a:r>
              <a:rPr lang="en-US" dirty="0">
                <a:hlinkClick r:id="rId4"/>
              </a:rPr>
              <a:t>Bash Guide</a:t>
            </a:r>
            <a:endParaRPr lang="en-US" dirty="0"/>
          </a:p>
          <a:p>
            <a:r>
              <a:rPr lang="en-US" dirty="0">
                <a:hlinkClick r:id="rId5"/>
              </a:rPr>
              <a:t>Vim Cheat Sheet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2CFA5-F79E-4F34-7611-0B80635F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CAB0F-2CA8-3742-B97B-79AB76F5EB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4764</TotalTime>
  <Words>1349</Words>
  <Application>Microsoft Macintosh PowerPoint</Application>
  <PresentationFormat>Widescreen</PresentationFormat>
  <Paragraphs>327</Paragraphs>
  <Slides>21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Office Theme</vt:lpstr>
      <vt:lpstr>Workshop: command line and bash</vt:lpstr>
      <vt:lpstr>Requirements</vt:lpstr>
      <vt:lpstr>What is the command line? </vt:lpstr>
      <vt:lpstr>Directory structure</vt:lpstr>
      <vt:lpstr>Syntax of commands</vt:lpstr>
      <vt:lpstr>Important commands – file system</vt:lpstr>
      <vt:lpstr>Important commands – working with text</vt:lpstr>
      <vt:lpstr>Important commands – other stuff</vt:lpstr>
      <vt:lpstr>File permissions </vt:lpstr>
      <vt:lpstr>Change file permissions</vt:lpstr>
      <vt:lpstr>Change file permissions – Octal mode</vt:lpstr>
      <vt:lpstr>Pipes and output redirection </vt:lpstr>
      <vt:lpstr>Tips and Tricks</vt:lpstr>
      <vt:lpstr>Bash Scripting</vt:lpstr>
      <vt:lpstr>Structure of a script</vt:lpstr>
      <vt:lpstr>What sorts of things can we use in a script? </vt:lpstr>
      <vt:lpstr>Arguments</vt:lpstr>
      <vt:lpstr>Exercise</vt:lpstr>
      <vt:lpstr>PowerPoint Presentation</vt:lpstr>
      <vt:lpstr>Appendix: Vim</vt:lpstr>
      <vt:lpstr>References and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Bening</dc:creator>
  <cp:lastModifiedBy>Samantha Bening</cp:lastModifiedBy>
  <cp:revision>12</cp:revision>
  <dcterms:created xsi:type="dcterms:W3CDTF">2025-11-04T16:28:15Z</dcterms:created>
  <dcterms:modified xsi:type="dcterms:W3CDTF">2025-11-13T15:57:03Z</dcterms:modified>
</cp:coreProperties>
</file>